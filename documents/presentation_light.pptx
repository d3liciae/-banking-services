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4"/>
    <p:sldId id="257" r:id="rId25"/>
    <p:sldId id="258" r:id="rId26"/>
    <p:sldId id="259" r:id="rId27"/>
    <p:sldId id="260" r:id="rId28"/>
    <p:sldId id="261" r:id="rId29"/>
    <p:sldId id="262" r:id="rId30"/>
    <p:sldId id="263" r:id="rId31"/>
    <p:sldId id="264" r:id="rId32"/>
    <p:sldId id="265" r:id="rId33"/>
    <p:sldId id="266" r:id="rId34"/>
    <p:sldId id="267" r:id="rId35"/>
    <p:sldId id="268" r:id="rId36"/>
    <p:sldId id="269" r:id="rId37"/>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HK Grotesk Light" charset="1" panose="00000400000000000000"/>
      <p:regular r:id="rId10"/>
    </p:embeddedFont>
    <p:embeddedFont>
      <p:font typeface="HK Grotesk Light Bold" charset="1" panose="00000500000000000000"/>
      <p:regular r:id="rId11"/>
    </p:embeddedFont>
    <p:embeddedFont>
      <p:font typeface="HK Grotesk Light Italics" charset="1" panose="00000400000000000000"/>
      <p:regular r:id="rId12"/>
    </p:embeddedFont>
    <p:embeddedFont>
      <p:font typeface="HK Grotesk Light Bold Italics" charset="1" panose="00000500000000000000"/>
      <p:regular r:id="rId13"/>
    </p:embeddedFont>
    <p:embeddedFont>
      <p:font typeface="HK Grotesk Bold" charset="1" panose="00000800000000000000"/>
      <p:regular r:id="rId14"/>
    </p:embeddedFont>
    <p:embeddedFont>
      <p:font typeface="HK Grotesk Bold Italics" charset="1" panose="00000800000000000000"/>
      <p:regular r:id="rId15"/>
    </p:embeddedFont>
    <p:embeddedFont>
      <p:font typeface="HK Grotesk Medium" charset="1" panose="00000600000000000000"/>
      <p:regular r:id="rId16"/>
    </p:embeddedFont>
    <p:embeddedFont>
      <p:font typeface="HK Grotesk Medium Bold" charset="1" panose="00000700000000000000"/>
      <p:regular r:id="rId17"/>
    </p:embeddedFont>
    <p:embeddedFont>
      <p:font typeface="HK Grotesk Medium Italics" charset="1" panose="00000600000000000000"/>
      <p:regular r:id="rId18"/>
    </p:embeddedFont>
    <p:embeddedFont>
      <p:font typeface="HK Grotesk Medium Bold Italics" charset="1" panose="00000700000000000000"/>
      <p:regular r:id="rId19"/>
    </p:embeddedFont>
    <p:embeddedFont>
      <p:font typeface="Muli Regular" charset="1" panose="00000500000000000000"/>
      <p:regular r:id="rId20"/>
    </p:embeddedFont>
    <p:embeddedFont>
      <p:font typeface="Muli Regular Bold" charset="1" panose="00000700000000000000"/>
      <p:regular r:id="rId21"/>
    </p:embeddedFont>
    <p:embeddedFont>
      <p:font typeface="Muli Regular Italics" charset="1" panose="00000500000000000000"/>
      <p:regular r:id="rId22"/>
    </p:embeddedFont>
    <p:embeddedFont>
      <p:font typeface="Muli Regular Bold Italics" charset="1" panose="000007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slides/slide1.xml" Type="http://schemas.openxmlformats.org/officeDocument/2006/relationships/slide"/><Relationship Id="rId25" Target="slides/slide2.xml" Type="http://schemas.openxmlformats.org/officeDocument/2006/relationships/slide"/><Relationship Id="rId26" Target="slides/slide3.xml" Type="http://schemas.openxmlformats.org/officeDocument/2006/relationships/slide"/><Relationship Id="rId27" Target="slides/slide4.xml" Type="http://schemas.openxmlformats.org/officeDocument/2006/relationships/slide"/><Relationship Id="rId28" Target="slides/slide5.xml" Type="http://schemas.openxmlformats.org/officeDocument/2006/relationships/slide"/><Relationship Id="rId29" Target="slides/slide6.xml" Type="http://schemas.openxmlformats.org/officeDocument/2006/relationships/slide"/><Relationship Id="rId3" Target="viewProps.xml" Type="http://schemas.openxmlformats.org/officeDocument/2006/relationships/viewProps"/><Relationship Id="rId30" Target="slides/slide7.xml" Type="http://schemas.openxmlformats.org/officeDocument/2006/relationships/slide"/><Relationship Id="rId31" Target="slides/slide8.xml" Type="http://schemas.openxmlformats.org/officeDocument/2006/relationships/slide"/><Relationship Id="rId32" Target="slides/slide9.xml" Type="http://schemas.openxmlformats.org/officeDocument/2006/relationships/slide"/><Relationship Id="rId33" Target="slides/slide10.xml" Type="http://schemas.openxmlformats.org/officeDocument/2006/relationships/slide"/><Relationship Id="rId34" Target="slides/slide11.xml" Type="http://schemas.openxmlformats.org/officeDocument/2006/relationships/slide"/><Relationship Id="rId35" Target="slides/slide12.xml" Type="http://schemas.openxmlformats.org/officeDocument/2006/relationships/slide"/><Relationship Id="rId36" Target="slides/slide13.xml" Type="http://schemas.openxmlformats.org/officeDocument/2006/relationships/slide"/><Relationship Id="rId37" Target="slides/slide14.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430913">
            <a:off x="1609562" y="2794825"/>
            <a:ext cx="1895690" cy="1762992"/>
          </a:xfrm>
          <a:prstGeom prst="rect">
            <a:avLst/>
          </a:prstGeom>
        </p:spPr>
      </p:pic>
      <p:sp>
        <p:nvSpPr>
          <p:cNvPr name="TextBox 3" id="3"/>
          <p:cNvSpPr txBox="true"/>
          <p:nvPr/>
        </p:nvSpPr>
        <p:spPr>
          <a:xfrm rot="0">
            <a:off x="7272846" y="2793618"/>
            <a:ext cx="9986454" cy="1994006"/>
          </a:xfrm>
          <a:prstGeom prst="rect">
            <a:avLst/>
          </a:prstGeom>
        </p:spPr>
        <p:txBody>
          <a:bodyPr anchor="t" rtlCol="false" tIns="0" lIns="0" bIns="0" rIns="0">
            <a:spAutoFit/>
          </a:bodyPr>
          <a:lstStyle/>
          <a:p>
            <a:pPr algn="r">
              <a:lnSpc>
                <a:spcPts val="7500"/>
              </a:lnSpc>
            </a:pPr>
            <a:r>
              <a:rPr lang="en-US" sz="8333" spc="-250">
                <a:solidFill>
                  <a:srgbClr val="1C1C1E"/>
                </a:solidFill>
                <a:latin typeface="HK Grotesk Bold Bold"/>
              </a:rPr>
              <a:t>На тему "база даних банківських послуг"</a:t>
            </a:r>
          </a:p>
        </p:txBody>
      </p:sp>
      <p:sp>
        <p:nvSpPr>
          <p:cNvPr name="TextBox 4" id="4"/>
          <p:cNvSpPr txBox="true"/>
          <p:nvPr/>
        </p:nvSpPr>
        <p:spPr>
          <a:xfrm rot="0">
            <a:off x="3368885" y="1028660"/>
            <a:ext cx="13890415" cy="1536359"/>
          </a:xfrm>
          <a:prstGeom prst="rect">
            <a:avLst/>
          </a:prstGeom>
        </p:spPr>
        <p:txBody>
          <a:bodyPr anchor="t" rtlCol="false" tIns="0" lIns="0" bIns="0" rIns="0">
            <a:spAutoFit/>
          </a:bodyPr>
          <a:lstStyle/>
          <a:p>
            <a:pPr algn="r">
              <a:lnSpc>
                <a:spcPts val="11154"/>
              </a:lnSpc>
            </a:pPr>
            <a:r>
              <a:rPr lang="en-US" sz="12393" spc="-371">
                <a:solidFill>
                  <a:srgbClr val="1C1C1E"/>
                </a:solidFill>
                <a:latin typeface="HK Grotesk Bold Bold"/>
              </a:rPr>
              <a:t>Курсовий Проєкт</a:t>
            </a:r>
          </a:p>
        </p:txBody>
      </p:sp>
      <p:sp>
        <p:nvSpPr>
          <p:cNvPr name="TextBox 5" id="5"/>
          <p:cNvSpPr txBox="true"/>
          <p:nvPr/>
        </p:nvSpPr>
        <p:spPr>
          <a:xfrm rot="0">
            <a:off x="9966235" y="5554789"/>
            <a:ext cx="7951559" cy="3716545"/>
          </a:xfrm>
          <a:prstGeom prst="rect">
            <a:avLst/>
          </a:prstGeom>
        </p:spPr>
        <p:txBody>
          <a:bodyPr anchor="t" rtlCol="false" tIns="0" lIns="0" bIns="0" rIns="0">
            <a:spAutoFit/>
          </a:bodyPr>
          <a:lstStyle/>
          <a:p>
            <a:pPr>
              <a:lnSpc>
                <a:spcPts val="3676"/>
              </a:lnSpc>
            </a:pPr>
            <a:r>
              <a:rPr lang="en-US" sz="2626">
                <a:solidFill>
                  <a:srgbClr val="1C1C1E"/>
                </a:solidFill>
                <a:latin typeface="Muli Regular"/>
              </a:rPr>
              <a:t>студентки 3 курсу</a:t>
            </a:r>
          </a:p>
          <a:p>
            <a:pPr>
              <a:lnSpc>
                <a:spcPts val="3676"/>
              </a:lnSpc>
            </a:pPr>
            <a:r>
              <a:rPr lang="en-US" sz="2626">
                <a:solidFill>
                  <a:srgbClr val="1C1C1E"/>
                </a:solidFill>
                <a:latin typeface="Muli Regular"/>
              </a:rPr>
              <a:t>групи ПІ-17-02</a:t>
            </a:r>
          </a:p>
          <a:p>
            <a:pPr>
              <a:lnSpc>
                <a:spcPts val="3676"/>
              </a:lnSpc>
            </a:pPr>
            <a:r>
              <a:rPr lang="en-US" sz="2626">
                <a:solidFill>
                  <a:srgbClr val="1C1C1E"/>
                </a:solidFill>
                <a:latin typeface="Muli Regular"/>
              </a:rPr>
              <a:t>галузі знань 12 "Інформаційні технології"</a:t>
            </a:r>
          </a:p>
          <a:p>
            <a:pPr>
              <a:lnSpc>
                <a:spcPts val="3676"/>
              </a:lnSpc>
            </a:pPr>
            <a:r>
              <a:rPr lang="en-US" sz="2626">
                <a:solidFill>
                  <a:srgbClr val="1C1C1E"/>
                </a:solidFill>
                <a:latin typeface="Muli Regular"/>
              </a:rPr>
              <a:t>спеціальність 121 "Інженерія програмного забезпечення"</a:t>
            </a:r>
          </a:p>
          <a:p>
            <a:pPr>
              <a:lnSpc>
                <a:spcPts val="3676"/>
              </a:lnSpc>
            </a:pPr>
            <a:r>
              <a:rPr lang="en-US" sz="2626">
                <a:solidFill>
                  <a:srgbClr val="1C1C1E"/>
                </a:solidFill>
                <a:latin typeface="Muli Regular"/>
              </a:rPr>
              <a:t>Стражник Ірини Володимирівни</a:t>
            </a:r>
          </a:p>
          <a:p>
            <a:pPr>
              <a:lnSpc>
                <a:spcPts val="3676"/>
              </a:lnSpc>
            </a:pPr>
            <a:r>
              <a:rPr lang="en-US" sz="2626">
                <a:solidFill>
                  <a:srgbClr val="1C1C1E"/>
                </a:solidFill>
                <a:latin typeface="Muli Regular"/>
              </a:rPr>
              <a:t>керівник курсового проєкту</a:t>
            </a:r>
          </a:p>
          <a:p>
            <a:pPr>
              <a:lnSpc>
                <a:spcPts val="3676"/>
              </a:lnSpc>
              <a:spcBef>
                <a:spcPct val="0"/>
              </a:spcBef>
            </a:pPr>
            <a:r>
              <a:rPr lang="en-US" sz="2626">
                <a:solidFill>
                  <a:srgbClr val="1C1C1E"/>
                </a:solidFill>
                <a:latin typeface="Muli Regular"/>
              </a:rPr>
              <a:t>викладач Левицький Ігор Володимирович</a:t>
            </a:r>
          </a:p>
        </p:txBody>
      </p:sp>
      <p:pic>
        <p:nvPicPr>
          <p:cNvPr name="Picture 6" id="6"/>
          <p:cNvPicPr>
            <a:picLocks noChangeAspect="true"/>
          </p:cNvPicPr>
          <p:nvPr/>
        </p:nvPicPr>
        <p:blipFill>
          <a:blip r:embed="rId3"/>
          <a:srcRect l="0" t="0" r="0" b="0"/>
          <a:stretch>
            <a:fillRect/>
          </a:stretch>
        </p:blipFill>
        <p:spPr>
          <a:xfrm flipH="false" flipV="false" rot="0">
            <a:off x="331202" y="3676321"/>
            <a:ext cx="8952021" cy="5595013"/>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1759281" y="2658075"/>
            <a:ext cx="141008" cy="7628925"/>
          </a:xfrm>
          <a:prstGeom prst="rect">
            <a:avLst/>
          </a:prstGeom>
          <a:solidFill>
            <a:srgbClr val="1C1C1E"/>
          </a:solidFill>
        </p:spPr>
      </p:sp>
      <p:pic>
        <p:nvPicPr>
          <p:cNvPr name="Picture 3" id="3"/>
          <p:cNvPicPr>
            <a:picLocks noChangeAspect="true"/>
          </p:cNvPicPr>
          <p:nvPr/>
        </p:nvPicPr>
        <p:blipFill>
          <a:blip r:embed="rId2"/>
          <a:srcRect l="0" t="0" r="0" b="0"/>
          <a:stretch>
            <a:fillRect/>
          </a:stretch>
        </p:blipFill>
        <p:spPr>
          <a:xfrm flipH="false" flipV="false" rot="459803">
            <a:off x="11537506" y="8376804"/>
            <a:ext cx="1895690" cy="1762992"/>
          </a:xfrm>
          <a:prstGeom prst="rect">
            <a:avLst/>
          </a:prstGeom>
        </p:spPr>
      </p:pic>
      <p:grpSp>
        <p:nvGrpSpPr>
          <p:cNvPr name="Group 4" id="4"/>
          <p:cNvGrpSpPr/>
          <p:nvPr/>
        </p:nvGrpSpPr>
        <p:grpSpPr>
          <a:xfrm rot="0">
            <a:off x="784269" y="576317"/>
            <a:ext cx="1142211" cy="1142211"/>
            <a:chOff x="0" y="0"/>
            <a:chExt cx="6350000" cy="6350000"/>
          </a:xfrm>
        </p:grpSpPr>
        <p:sp>
          <p:nvSpPr>
            <p:cNvPr name="Freeform 5" id="5"/>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sp>
        <p:nvSpPr>
          <p:cNvPr name="TextBox 6" id="6"/>
          <p:cNvSpPr txBox="true"/>
          <p:nvPr/>
        </p:nvSpPr>
        <p:spPr>
          <a:xfrm rot="0">
            <a:off x="981075" y="1023850"/>
            <a:ext cx="9821037" cy="2126422"/>
          </a:xfrm>
          <a:prstGeom prst="rect">
            <a:avLst/>
          </a:prstGeom>
        </p:spPr>
        <p:txBody>
          <a:bodyPr anchor="t" rtlCol="false" tIns="0" lIns="0" bIns="0" rIns="0">
            <a:spAutoFit/>
          </a:bodyPr>
          <a:lstStyle/>
          <a:p>
            <a:pPr>
              <a:lnSpc>
                <a:spcPts val="8163"/>
              </a:lnSpc>
            </a:pPr>
            <a:r>
              <a:rPr lang="en-US" sz="8592" spc="-257">
                <a:solidFill>
                  <a:srgbClr val="1C1C1E"/>
                </a:solidFill>
                <a:latin typeface="HK Grotesk Bold"/>
              </a:rPr>
              <a:t>Аналіз предметної області проєкту</a:t>
            </a:r>
          </a:p>
        </p:txBody>
      </p:sp>
      <p:sp>
        <p:nvSpPr>
          <p:cNvPr name="TextBox 7" id="7"/>
          <p:cNvSpPr txBox="true"/>
          <p:nvPr/>
        </p:nvSpPr>
        <p:spPr>
          <a:xfrm rot="0">
            <a:off x="1028700" y="3418205"/>
            <a:ext cx="10221867" cy="5840095"/>
          </a:xfrm>
          <a:prstGeom prst="rect">
            <a:avLst/>
          </a:prstGeom>
        </p:spPr>
        <p:txBody>
          <a:bodyPr anchor="t" rtlCol="false" tIns="0" lIns="0" bIns="0" rIns="0">
            <a:spAutoFit/>
          </a:bodyPr>
          <a:lstStyle/>
          <a:p>
            <a:pPr>
              <a:lnSpc>
                <a:spcPts val="3079"/>
              </a:lnSpc>
            </a:pPr>
            <a:r>
              <a:rPr lang="en-US" sz="2200">
                <a:solidFill>
                  <a:srgbClr val="000000"/>
                </a:solidFill>
                <a:latin typeface="Muli Regular"/>
              </a:rPr>
              <a:t>Ба́нк — кредитно-фінанс</a:t>
            </a:r>
            <a:r>
              <a:rPr lang="en-US" sz="2200">
                <a:solidFill>
                  <a:srgbClr val="000000"/>
                </a:solidFill>
                <a:latin typeface="Muli Regular"/>
              </a:rPr>
              <a:t>ова установа, яка здійснює грошові розрахунки, акумулює грошові кошти та інші цінності, надає кредити та здійснює інші послуги за фінансовими операціями. </a:t>
            </a:r>
          </a:p>
          <a:p>
            <a:pPr>
              <a:lnSpc>
                <a:spcPts val="3079"/>
              </a:lnSpc>
            </a:pPr>
            <a:r>
              <a:rPr lang="en-US" sz="2200">
                <a:solidFill>
                  <a:srgbClr val="000000"/>
                </a:solidFill>
                <a:latin typeface="Muli Regular"/>
              </a:rPr>
              <a:t>Для збереження даних про надання клієнтам банківських послуг реалізовано базу даних. База даних вирішує такі проблеми, як ведення журналу касових операцій про карткові та розрахункові рахунки клієнтів, поповнення мобільних, обмін валют, ведення графіку кредитів та нарахування депозитних відсотків. </a:t>
            </a:r>
          </a:p>
          <a:p>
            <a:pPr>
              <a:lnSpc>
                <a:spcPts val="3079"/>
              </a:lnSpc>
            </a:pPr>
            <a:r>
              <a:rPr lang="en-US" sz="2199">
                <a:solidFill>
                  <a:srgbClr val="000000"/>
                </a:solidFill>
                <a:latin typeface="Muli Regular"/>
              </a:rPr>
              <a:t>Для зручного користування базою реалізовано безліч різнотипних запитів на вибірку даних, деякі з них зберігаються віртуальними таблицями у вигляді представлень які забезпечують зручне подання та швидкий доступ до потрібної інформації. Розроблено збережені процедури та функції, які зночною мірою автоматизовують роботу бази, щоб виключити проведення рутинних дій, таких як певні розрахунки чи оновлення даних. </a:t>
            </a:r>
          </a:p>
        </p:txBody>
      </p:sp>
      <p:sp>
        <p:nvSpPr>
          <p:cNvPr name="TextBox 8" id="8"/>
          <p:cNvSpPr txBox="true"/>
          <p:nvPr/>
        </p:nvSpPr>
        <p:spPr>
          <a:xfrm rot="0">
            <a:off x="12485351" y="1099798"/>
            <a:ext cx="5059217" cy="2725420"/>
          </a:xfrm>
          <a:prstGeom prst="rect">
            <a:avLst/>
          </a:prstGeom>
        </p:spPr>
        <p:txBody>
          <a:bodyPr anchor="t" rtlCol="false" tIns="0" lIns="0" bIns="0" rIns="0">
            <a:spAutoFit/>
          </a:bodyPr>
          <a:lstStyle/>
          <a:p>
            <a:pPr>
              <a:lnSpc>
                <a:spcPts val="3079"/>
              </a:lnSpc>
            </a:pPr>
            <a:r>
              <a:rPr lang="en-US" sz="2200">
                <a:solidFill>
                  <a:srgbClr val="000000"/>
                </a:solidFill>
                <a:latin typeface="HK Grotesk Light"/>
              </a:rPr>
              <a:t>Для повної автоматизації бази даних реалізовано роботу тригерів, які при настанні певних подій (внесення, видалення чи оновленні даних) виконують певні розрахунки чи інші дії з даними.</a:t>
            </a:r>
          </a:p>
          <a:p>
            <a:pPr>
              <a:lnSpc>
                <a:spcPts val="3079"/>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grpSp>
        <p:nvGrpSpPr>
          <p:cNvPr name="Group 2" id="2"/>
          <p:cNvGrpSpPr/>
          <p:nvPr/>
        </p:nvGrpSpPr>
        <p:grpSpPr>
          <a:xfrm rot="0">
            <a:off x="1704520" y="2840125"/>
            <a:ext cx="14812404" cy="3840978"/>
            <a:chOff x="0" y="0"/>
            <a:chExt cx="19749873" cy="5121303"/>
          </a:xfrm>
        </p:grpSpPr>
        <p:sp>
          <p:nvSpPr>
            <p:cNvPr name="TextBox 3" id="3"/>
            <p:cNvSpPr txBox="true"/>
            <p:nvPr/>
          </p:nvSpPr>
          <p:spPr>
            <a:xfrm rot="0">
              <a:off x="0" y="238125"/>
              <a:ext cx="19749873" cy="3401964"/>
            </a:xfrm>
            <a:prstGeom prst="rect">
              <a:avLst/>
            </a:prstGeom>
          </p:spPr>
          <p:txBody>
            <a:bodyPr anchor="t" rtlCol="false" tIns="0" lIns="0" bIns="0" rIns="0">
              <a:spAutoFit/>
            </a:bodyPr>
            <a:lstStyle/>
            <a:p>
              <a:pPr algn="ctr" marL="0" indent="0" lvl="0">
                <a:lnSpc>
                  <a:spcPts val="9542"/>
                </a:lnSpc>
              </a:pPr>
              <a:r>
                <a:rPr lang="en-US" sz="10045" spc="-301">
                  <a:solidFill>
                    <a:srgbClr val="1C1C1E"/>
                  </a:solidFill>
                  <a:latin typeface="HK Grotesk Bold"/>
                </a:rPr>
                <a:t>Чому саме PostgreSQl та MySQL</a:t>
              </a:r>
            </a:p>
          </p:txBody>
        </p:sp>
        <p:sp>
          <p:nvSpPr>
            <p:cNvPr name="TextBox 4" id="4"/>
            <p:cNvSpPr txBox="true"/>
            <p:nvPr/>
          </p:nvSpPr>
          <p:spPr>
            <a:xfrm rot="0">
              <a:off x="1746255" y="4497881"/>
              <a:ext cx="16257362" cy="623423"/>
            </a:xfrm>
            <a:prstGeom prst="rect">
              <a:avLst/>
            </a:prstGeom>
          </p:spPr>
          <p:txBody>
            <a:bodyPr anchor="t" rtlCol="false" tIns="0" lIns="0" bIns="0" rIns="0">
              <a:spAutoFit/>
            </a:bodyPr>
            <a:lstStyle/>
            <a:p>
              <a:pPr algn="ctr">
                <a:lnSpc>
                  <a:spcPts val="3937"/>
                </a:lnSpc>
              </a:pPr>
              <a:r>
                <a:rPr lang="en-US" sz="2812">
                  <a:solidFill>
                    <a:srgbClr val="1C1C1E"/>
                  </a:solidFill>
                  <a:latin typeface="HK Grotesk Light Bold"/>
                </a:rPr>
                <a:t>та чим вони відрізняються</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5592824" y="2269931"/>
            <a:ext cx="1895690" cy="1762992"/>
          </a:xfrm>
          <a:prstGeom prst="rect">
            <a:avLst/>
          </a:prstGeom>
        </p:spPr>
      </p:pic>
      <p:grpSp>
        <p:nvGrpSpPr>
          <p:cNvPr name="Group 3" id="3"/>
          <p:cNvGrpSpPr/>
          <p:nvPr/>
        </p:nvGrpSpPr>
        <p:grpSpPr>
          <a:xfrm rot="0">
            <a:off x="16346303" y="7223962"/>
            <a:ext cx="1142211" cy="1142211"/>
            <a:chOff x="0" y="0"/>
            <a:chExt cx="6350000" cy="6350000"/>
          </a:xfrm>
        </p:grpSpPr>
        <p:sp>
          <p:nvSpPr>
            <p:cNvPr name="Freeform 4" id="4"/>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pic>
        <p:nvPicPr>
          <p:cNvPr name="Picture 5" id="5"/>
          <p:cNvPicPr>
            <a:picLocks noChangeAspect="true"/>
          </p:cNvPicPr>
          <p:nvPr/>
        </p:nvPicPr>
        <p:blipFill>
          <a:blip r:embed="rId3"/>
          <a:srcRect l="0" t="0" r="0" b="0"/>
          <a:stretch>
            <a:fillRect/>
          </a:stretch>
        </p:blipFill>
        <p:spPr>
          <a:xfrm flipH="false" flipV="false" rot="0">
            <a:off x="12172708" y="1028700"/>
            <a:ext cx="4610391" cy="9056125"/>
          </a:xfrm>
          <a:prstGeom prst="rect">
            <a:avLst/>
          </a:prstGeom>
        </p:spPr>
      </p:pic>
      <p:sp>
        <p:nvSpPr>
          <p:cNvPr name="TextBox 6" id="6"/>
          <p:cNvSpPr txBox="true"/>
          <p:nvPr/>
        </p:nvSpPr>
        <p:spPr>
          <a:xfrm rot="0">
            <a:off x="864276" y="986937"/>
            <a:ext cx="4542625" cy="967224"/>
          </a:xfrm>
          <a:prstGeom prst="rect">
            <a:avLst/>
          </a:prstGeom>
        </p:spPr>
        <p:txBody>
          <a:bodyPr anchor="t" rtlCol="false" tIns="0" lIns="0" bIns="0" rIns="0">
            <a:spAutoFit/>
          </a:bodyPr>
          <a:lstStyle/>
          <a:p>
            <a:pPr>
              <a:lnSpc>
                <a:spcPts val="7200"/>
              </a:lnSpc>
            </a:pPr>
            <a:r>
              <a:rPr lang="en-US" sz="7200" spc="-215">
                <a:solidFill>
                  <a:srgbClr val="1C1C1E"/>
                </a:solidFill>
                <a:latin typeface="HK Grotesk Medium"/>
              </a:rPr>
              <a:t>PostgreSQL</a:t>
            </a:r>
          </a:p>
        </p:txBody>
      </p:sp>
      <p:sp>
        <p:nvSpPr>
          <p:cNvPr name="TextBox 7" id="7"/>
          <p:cNvSpPr txBox="true"/>
          <p:nvPr/>
        </p:nvSpPr>
        <p:spPr>
          <a:xfrm rot="0">
            <a:off x="864276" y="1954161"/>
            <a:ext cx="10245875" cy="1447800"/>
          </a:xfrm>
          <a:prstGeom prst="rect">
            <a:avLst/>
          </a:prstGeom>
        </p:spPr>
        <p:txBody>
          <a:bodyPr anchor="t" rtlCol="false" tIns="0" lIns="0" bIns="0" rIns="0">
            <a:spAutoFit/>
          </a:bodyPr>
          <a:lstStyle/>
          <a:p>
            <a:pPr>
              <a:lnSpc>
                <a:spcPts val="2879"/>
              </a:lnSpc>
            </a:pPr>
            <a:r>
              <a:rPr lang="en-US" sz="2400">
                <a:solidFill>
                  <a:srgbClr val="1C1C1E"/>
                </a:solidFill>
                <a:latin typeface="HK Grotesk Medium Bold"/>
              </a:rPr>
              <a:t>PostgreSQL - це потужна об'єктно-реляційна база даних з відкритим кодом, яка використовує та розширює мову SQL у поєднанні із багатьма функціями, які безпечно зберігають та масштабують найскладніші навантаження даних.</a:t>
            </a:r>
          </a:p>
        </p:txBody>
      </p:sp>
      <p:grpSp>
        <p:nvGrpSpPr>
          <p:cNvPr name="Group 8" id="8"/>
          <p:cNvGrpSpPr/>
          <p:nvPr/>
        </p:nvGrpSpPr>
        <p:grpSpPr>
          <a:xfrm rot="0">
            <a:off x="1028700" y="3623708"/>
            <a:ext cx="5069087" cy="876756"/>
            <a:chOff x="0" y="0"/>
            <a:chExt cx="6758783" cy="1169008"/>
          </a:xfrm>
        </p:grpSpPr>
        <p:grpSp>
          <p:nvGrpSpPr>
            <p:cNvPr name="Group 9" id="9"/>
            <p:cNvGrpSpPr>
              <a:grpSpLocks noChangeAspect="true"/>
            </p:cNvGrpSpPr>
            <p:nvPr/>
          </p:nvGrpSpPr>
          <p:grpSpPr>
            <a:xfrm rot="0">
              <a:off x="0" y="0"/>
              <a:ext cx="424613" cy="424613"/>
              <a:chOff x="0" y="0"/>
              <a:chExt cx="495300" cy="495300"/>
            </a:xfrm>
          </p:grpSpPr>
          <p:sp>
            <p:nvSpPr>
              <p:cNvPr name="Freeform 10" id="10"/>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1" id="11"/>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sp>
          <p:nvSpPr>
            <p:cNvPr name="TextBox 12" id="12"/>
            <p:cNvSpPr txBox="true"/>
            <p:nvPr/>
          </p:nvSpPr>
          <p:spPr>
            <a:xfrm rot="0">
              <a:off x="905208" y="730945"/>
              <a:ext cx="5853574" cy="438063"/>
            </a:xfrm>
            <a:prstGeom prst="rect">
              <a:avLst/>
            </a:prstGeom>
          </p:spPr>
          <p:txBody>
            <a:bodyPr anchor="t" rtlCol="false" tIns="0" lIns="0" bIns="0" rIns="0">
              <a:spAutoFit/>
            </a:bodyPr>
            <a:lstStyle/>
            <a:p>
              <a:pPr>
                <a:lnSpc>
                  <a:spcPts val="2852"/>
                </a:lnSpc>
              </a:pPr>
            </a:p>
          </p:txBody>
        </p:sp>
        <p:sp>
          <p:nvSpPr>
            <p:cNvPr name="TextBox 13" id="13"/>
            <p:cNvSpPr txBox="true"/>
            <p:nvPr/>
          </p:nvSpPr>
          <p:spPr>
            <a:xfrm rot="0">
              <a:off x="905208" y="14849"/>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Збереження даних</a:t>
              </a:r>
            </a:p>
          </p:txBody>
        </p:sp>
      </p:grpSp>
      <p:grpSp>
        <p:nvGrpSpPr>
          <p:cNvPr name="Group 14" id="14"/>
          <p:cNvGrpSpPr/>
          <p:nvPr/>
        </p:nvGrpSpPr>
        <p:grpSpPr>
          <a:xfrm rot="0">
            <a:off x="1028700" y="5443359"/>
            <a:ext cx="5069087" cy="854321"/>
            <a:chOff x="0" y="0"/>
            <a:chExt cx="6758783" cy="1139094"/>
          </a:xfrm>
        </p:grpSpPr>
        <p:grpSp>
          <p:nvGrpSpPr>
            <p:cNvPr name="Group 15" id="15"/>
            <p:cNvGrpSpPr>
              <a:grpSpLocks noChangeAspect="true"/>
            </p:cNvGrpSpPr>
            <p:nvPr/>
          </p:nvGrpSpPr>
          <p:grpSpPr>
            <a:xfrm rot="0">
              <a:off x="0" y="0"/>
              <a:ext cx="424613" cy="424613"/>
              <a:chOff x="0" y="0"/>
              <a:chExt cx="495300" cy="495300"/>
            </a:xfrm>
          </p:grpSpPr>
          <p:sp>
            <p:nvSpPr>
              <p:cNvPr name="Freeform 16" id="16"/>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7" id="17"/>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sp>
          <p:nvSpPr>
            <p:cNvPr name="TextBox 18" id="18"/>
            <p:cNvSpPr txBox="true"/>
            <p:nvPr/>
          </p:nvSpPr>
          <p:spPr>
            <a:xfrm rot="0">
              <a:off x="905208" y="706571"/>
              <a:ext cx="5853574" cy="432523"/>
            </a:xfrm>
            <a:prstGeom prst="rect">
              <a:avLst/>
            </a:prstGeom>
          </p:spPr>
          <p:txBody>
            <a:bodyPr anchor="t" rtlCol="false" tIns="0" lIns="0" bIns="0" rIns="0">
              <a:spAutoFit/>
            </a:bodyPr>
            <a:lstStyle/>
            <a:p>
              <a:pPr>
                <a:lnSpc>
                  <a:spcPts val="2729"/>
                </a:lnSpc>
              </a:pPr>
            </a:p>
          </p:txBody>
        </p:sp>
        <p:sp>
          <p:nvSpPr>
            <p:cNvPr name="TextBox 19" id="19"/>
            <p:cNvSpPr txBox="true"/>
            <p:nvPr/>
          </p:nvSpPr>
          <p:spPr>
            <a:xfrm rot="0">
              <a:off x="905208" y="0"/>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Стандарт SQL</a:t>
              </a:r>
            </a:p>
          </p:txBody>
        </p:sp>
      </p:grpSp>
      <p:grpSp>
        <p:nvGrpSpPr>
          <p:cNvPr name="Group 20" id="20"/>
          <p:cNvGrpSpPr/>
          <p:nvPr/>
        </p:nvGrpSpPr>
        <p:grpSpPr>
          <a:xfrm rot="0">
            <a:off x="1028700" y="7316778"/>
            <a:ext cx="5069087" cy="865619"/>
            <a:chOff x="0" y="0"/>
            <a:chExt cx="6758783" cy="1154159"/>
          </a:xfrm>
        </p:grpSpPr>
        <p:grpSp>
          <p:nvGrpSpPr>
            <p:cNvPr name="Group 21" id="21"/>
            <p:cNvGrpSpPr>
              <a:grpSpLocks noChangeAspect="true"/>
            </p:cNvGrpSpPr>
            <p:nvPr/>
          </p:nvGrpSpPr>
          <p:grpSpPr>
            <a:xfrm rot="0">
              <a:off x="0" y="0"/>
              <a:ext cx="424613" cy="424613"/>
              <a:chOff x="0" y="0"/>
              <a:chExt cx="495300" cy="495300"/>
            </a:xfrm>
          </p:grpSpPr>
          <p:sp>
            <p:nvSpPr>
              <p:cNvPr name="Freeform 22" id="22"/>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23" id="23"/>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sp>
          <p:nvSpPr>
            <p:cNvPr name="TextBox 24" id="24"/>
            <p:cNvSpPr txBox="true"/>
            <p:nvPr/>
          </p:nvSpPr>
          <p:spPr>
            <a:xfrm rot="0">
              <a:off x="905208" y="716096"/>
              <a:ext cx="5853574" cy="438063"/>
            </a:xfrm>
            <a:prstGeom prst="rect">
              <a:avLst/>
            </a:prstGeom>
          </p:spPr>
          <p:txBody>
            <a:bodyPr anchor="t" rtlCol="false" tIns="0" lIns="0" bIns="0" rIns="0">
              <a:spAutoFit/>
            </a:bodyPr>
            <a:lstStyle/>
            <a:p>
              <a:pPr>
                <a:lnSpc>
                  <a:spcPts val="2852"/>
                </a:lnSpc>
              </a:pPr>
            </a:p>
          </p:txBody>
        </p:sp>
        <p:sp>
          <p:nvSpPr>
            <p:cNvPr name="TextBox 25" id="25"/>
            <p:cNvSpPr txBox="true"/>
            <p:nvPr/>
          </p:nvSpPr>
          <p:spPr>
            <a:xfrm rot="0">
              <a:off x="905208" y="0"/>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Продуктивність</a:t>
              </a:r>
            </a:p>
          </p:txBody>
        </p:sp>
      </p:grpSp>
      <p:sp>
        <p:nvSpPr>
          <p:cNvPr name="TextBox 26" id="26"/>
          <p:cNvSpPr txBox="true"/>
          <p:nvPr/>
        </p:nvSpPr>
        <p:spPr>
          <a:xfrm rot="0">
            <a:off x="1706469" y="3909441"/>
            <a:ext cx="11639119"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Postgresql представляє з себе об'єктно-реляційну базу даних, яка працює </a:t>
            </a:r>
            <a:r>
              <a:rPr lang="en-US" sz="1950">
                <a:solidFill>
                  <a:srgbClr val="000000"/>
                </a:solidFill>
                <a:latin typeface="HK Grotesk Light"/>
              </a:rPr>
              <a:t>лише на одному движку- storage</a:t>
            </a:r>
            <a:r>
              <a:rPr lang="en-US" sz="1950">
                <a:solidFill>
                  <a:srgbClr val="000000"/>
                </a:solidFill>
                <a:latin typeface="HK Grotesk Light"/>
              </a:rPr>
              <a:t> </a:t>
            </a:r>
            <a:r>
              <a:rPr lang="en-US" sz="1950">
                <a:solidFill>
                  <a:srgbClr val="000000"/>
                </a:solidFill>
                <a:latin typeface="HK Grotesk Light"/>
              </a:rPr>
              <a:t>engine. Усі таблиці представлені у вигляді об’єктів, вони можуть наследуватись, і всі дії з таблицями виконуються з підтримкою об'єктно орієнтованих функцій.</a:t>
            </a:r>
          </a:p>
        </p:txBody>
      </p:sp>
      <p:sp>
        <p:nvSpPr>
          <p:cNvPr name="TextBox 27" id="27"/>
          <p:cNvSpPr txBox="true"/>
          <p:nvPr/>
        </p:nvSpPr>
        <p:spPr>
          <a:xfrm rot="0">
            <a:off x="1706469" y="5740607"/>
            <a:ext cx="11639119"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Postgresql - це проект з відкритим кодом, він розбирає команду ентузіастів, і розробляє задачі, які макс</a:t>
            </a:r>
            <a:r>
              <a:rPr lang="en-US" sz="1950">
                <a:solidFill>
                  <a:srgbClr val="000000"/>
                </a:solidFill>
                <a:latin typeface="HK Grotesk Light"/>
              </a:rPr>
              <a:t>имально відповідають</a:t>
            </a:r>
            <a:r>
              <a:rPr lang="en-US" sz="1950">
                <a:solidFill>
                  <a:srgbClr val="000000"/>
                </a:solidFill>
                <a:latin typeface="HK Grotesk Light"/>
              </a:rPr>
              <a:t> </a:t>
            </a:r>
            <a:r>
              <a:rPr lang="en-US" sz="1950">
                <a:solidFill>
                  <a:srgbClr val="000000"/>
                </a:solidFill>
                <a:latin typeface="HK Grotesk Light"/>
              </a:rPr>
              <a:t>стандартам SQL. Але все це впливає на простоту. Postgresql дуже складний і через це він не настільки популярний як MySQL.</a:t>
            </a:r>
          </a:p>
        </p:txBody>
      </p:sp>
      <p:sp>
        <p:nvSpPr>
          <p:cNvPr name="TextBox 28" id="28"/>
          <p:cNvSpPr txBox="true"/>
          <p:nvPr/>
        </p:nvSpPr>
        <p:spPr>
          <a:xfrm rot="0">
            <a:off x="1706469" y="7645187"/>
            <a:ext cx="11639119"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Вся заголовна інформація таблиць Postgresql знаходиться в оперативній пам'яті. Ви не можете створити таблицю, яка буде не в пам'яті. Запис</a:t>
            </a:r>
            <a:r>
              <a:rPr lang="en-US" sz="1950">
                <a:solidFill>
                  <a:srgbClr val="000000"/>
                </a:solidFill>
                <a:latin typeface="HK Grotesk Light"/>
              </a:rPr>
              <a:t>и таблиці упорядковано відповідно до</a:t>
            </a:r>
            <a:r>
              <a:rPr lang="en-US" sz="1950">
                <a:solidFill>
                  <a:srgbClr val="000000"/>
                </a:solidFill>
                <a:latin typeface="HK Grotesk Light"/>
              </a:rPr>
              <a:t> і</a:t>
            </a:r>
            <a:r>
              <a:rPr lang="en-US" sz="1950">
                <a:solidFill>
                  <a:srgbClr val="000000"/>
                </a:solidFill>
                <a:latin typeface="HK Grotesk Light"/>
              </a:rPr>
              <a:t>ндексу, а тому їх дуже швидко витягти. Також можливо застосовувати кілька індексів до однієї таблиці.</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98708" y="971468"/>
            <a:ext cx="3336026" cy="967224"/>
          </a:xfrm>
          <a:prstGeom prst="rect">
            <a:avLst/>
          </a:prstGeom>
        </p:spPr>
        <p:txBody>
          <a:bodyPr anchor="t" rtlCol="false" tIns="0" lIns="0" bIns="0" rIns="0">
            <a:spAutoFit/>
          </a:bodyPr>
          <a:lstStyle/>
          <a:p>
            <a:pPr algn="r">
              <a:lnSpc>
                <a:spcPts val="7200"/>
              </a:lnSpc>
            </a:pPr>
            <a:r>
              <a:rPr lang="en-US" sz="7200" spc="-215">
                <a:solidFill>
                  <a:srgbClr val="1C1C1E"/>
                </a:solidFill>
                <a:latin typeface="HK Grotesk Medium"/>
              </a:rPr>
              <a:t>MySQL</a:t>
            </a:r>
          </a:p>
        </p:txBody>
      </p:sp>
      <p:sp>
        <p:nvSpPr>
          <p:cNvPr name="TextBox 3" id="3"/>
          <p:cNvSpPr txBox="true"/>
          <p:nvPr/>
        </p:nvSpPr>
        <p:spPr>
          <a:xfrm rot="0">
            <a:off x="6239964" y="1934343"/>
            <a:ext cx="11019336" cy="1447800"/>
          </a:xfrm>
          <a:prstGeom prst="rect">
            <a:avLst/>
          </a:prstGeom>
        </p:spPr>
        <p:txBody>
          <a:bodyPr anchor="t" rtlCol="false" tIns="0" lIns="0" bIns="0" rIns="0">
            <a:spAutoFit/>
          </a:bodyPr>
          <a:lstStyle/>
          <a:p>
            <a:pPr algn="r">
              <a:lnSpc>
                <a:spcPts val="2879"/>
              </a:lnSpc>
            </a:pPr>
            <a:r>
              <a:rPr lang="en-US" sz="2400">
                <a:solidFill>
                  <a:srgbClr val="1C1C1E"/>
                </a:solidFill>
                <a:latin typeface="HK Grotesk Medium Bold"/>
              </a:rPr>
              <a:t>MySQL являє собою одну з найбільш поширених сьогодні реляційних систем управління базами даних. Дана система використовується для роботи з досить великими обсягами інформації. Однак MySQL ідеально підходить як для невеликих, так і для великих інтернет-проектів.</a:t>
            </a:r>
          </a:p>
        </p:txBody>
      </p:sp>
      <p:pic>
        <p:nvPicPr>
          <p:cNvPr name="Picture 4" id="4"/>
          <p:cNvPicPr>
            <a:picLocks noChangeAspect="true"/>
          </p:cNvPicPr>
          <p:nvPr/>
        </p:nvPicPr>
        <p:blipFill>
          <a:blip r:embed="rId2"/>
          <a:srcRect l="0" t="0" r="0" b="0"/>
          <a:stretch>
            <a:fillRect/>
          </a:stretch>
        </p:blipFill>
        <p:spPr>
          <a:xfrm flipH="false" flipV="false" rot="0">
            <a:off x="3395129" y="2199993"/>
            <a:ext cx="1455484" cy="1353600"/>
          </a:xfrm>
          <a:prstGeom prst="rect">
            <a:avLst/>
          </a:prstGeom>
        </p:spPr>
      </p:pic>
      <p:grpSp>
        <p:nvGrpSpPr>
          <p:cNvPr name="Group 5" id="5"/>
          <p:cNvGrpSpPr/>
          <p:nvPr/>
        </p:nvGrpSpPr>
        <p:grpSpPr>
          <a:xfrm rot="0">
            <a:off x="1464371" y="5821553"/>
            <a:ext cx="884424" cy="884424"/>
            <a:chOff x="0" y="0"/>
            <a:chExt cx="6350000" cy="6350000"/>
          </a:xfrm>
        </p:grpSpPr>
        <p:sp>
          <p:nvSpPr>
            <p:cNvPr name="Freeform 6" id="6"/>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FFF"/>
            </a:solidFill>
          </p:spPr>
        </p:sp>
      </p:grpSp>
      <p:grpSp>
        <p:nvGrpSpPr>
          <p:cNvPr name="Group 7" id="7"/>
          <p:cNvGrpSpPr/>
          <p:nvPr/>
        </p:nvGrpSpPr>
        <p:grpSpPr>
          <a:xfrm rot="0">
            <a:off x="1464371" y="5457254"/>
            <a:ext cx="876973" cy="876973"/>
            <a:chOff x="0" y="0"/>
            <a:chExt cx="6350000" cy="6350000"/>
          </a:xfrm>
        </p:grpSpPr>
        <p:sp>
          <p:nvSpPr>
            <p:cNvPr name="Freeform 8" id="8"/>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pic>
        <p:nvPicPr>
          <p:cNvPr name="Picture 9" id="9"/>
          <p:cNvPicPr>
            <a:picLocks noChangeAspect="true"/>
          </p:cNvPicPr>
          <p:nvPr/>
        </p:nvPicPr>
        <p:blipFill>
          <a:blip r:embed="rId3"/>
          <a:srcRect l="0" t="0" r="0" b="0"/>
          <a:stretch>
            <a:fillRect/>
          </a:stretch>
        </p:blipFill>
        <p:spPr>
          <a:xfrm flipH="false" flipV="false" rot="0">
            <a:off x="719316" y="1028700"/>
            <a:ext cx="4058166" cy="8857107"/>
          </a:xfrm>
          <a:prstGeom prst="rect">
            <a:avLst/>
          </a:prstGeom>
        </p:spPr>
      </p:pic>
      <p:grpSp>
        <p:nvGrpSpPr>
          <p:cNvPr name="Group 10" id="10"/>
          <p:cNvGrpSpPr/>
          <p:nvPr/>
        </p:nvGrpSpPr>
        <p:grpSpPr>
          <a:xfrm rot="0">
            <a:off x="6239964" y="3817767"/>
            <a:ext cx="5069087" cy="876756"/>
            <a:chOff x="0" y="0"/>
            <a:chExt cx="6758783" cy="1169008"/>
          </a:xfrm>
        </p:grpSpPr>
        <p:grpSp>
          <p:nvGrpSpPr>
            <p:cNvPr name="Group 11" id="11"/>
            <p:cNvGrpSpPr>
              <a:grpSpLocks noChangeAspect="true"/>
            </p:cNvGrpSpPr>
            <p:nvPr/>
          </p:nvGrpSpPr>
          <p:grpSpPr>
            <a:xfrm rot="0">
              <a:off x="0" y="0"/>
              <a:ext cx="424613" cy="424613"/>
              <a:chOff x="0" y="0"/>
              <a:chExt cx="495300" cy="495300"/>
            </a:xfrm>
          </p:grpSpPr>
          <p:sp>
            <p:nvSpPr>
              <p:cNvPr name="Freeform 12" id="12"/>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3" id="13"/>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sp>
          <p:nvSpPr>
            <p:cNvPr name="TextBox 14" id="14"/>
            <p:cNvSpPr txBox="true"/>
            <p:nvPr/>
          </p:nvSpPr>
          <p:spPr>
            <a:xfrm rot="0">
              <a:off x="905208" y="730945"/>
              <a:ext cx="5853574" cy="438063"/>
            </a:xfrm>
            <a:prstGeom prst="rect">
              <a:avLst/>
            </a:prstGeom>
          </p:spPr>
          <p:txBody>
            <a:bodyPr anchor="t" rtlCol="false" tIns="0" lIns="0" bIns="0" rIns="0">
              <a:spAutoFit/>
            </a:bodyPr>
            <a:lstStyle/>
            <a:p>
              <a:pPr>
                <a:lnSpc>
                  <a:spcPts val="2852"/>
                </a:lnSpc>
              </a:pPr>
            </a:p>
          </p:txBody>
        </p:sp>
        <p:sp>
          <p:nvSpPr>
            <p:cNvPr name="TextBox 15" id="15"/>
            <p:cNvSpPr txBox="true"/>
            <p:nvPr/>
          </p:nvSpPr>
          <p:spPr>
            <a:xfrm rot="0">
              <a:off x="905208" y="14849"/>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Збереження даних</a:t>
              </a:r>
            </a:p>
          </p:txBody>
        </p:sp>
      </p:grpSp>
      <p:grpSp>
        <p:nvGrpSpPr>
          <p:cNvPr name="Group 16" id="16"/>
          <p:cNvGrpSpPr/>
          <p:nvPr/>
        </p:nvGrpSpPr>
        <p:grpSpPr>
          <a:xfrm rot="0">
            <a:off x="6239964" y="5709035"/>
            <a:ext cx="5069087" cy="865619"/>
            <a:chOff x="0" y="0"/>
            <a:chExt cx="6758783" cy="1154159"/>
          </a:xfrm>
        </p:grpSpPr>
        <p:grpSp>
          <p:nvGrpSpPr>
            <p:cNvPr name="Group 17" id="17"/>
            <p:cNvGrpSpPr>
              <a:grpSpLocks noChangeAspect="true"/>
            </p:cNvGrpSpPr>
            <p:nvPr/>
          </p:nvGrpSpPr>
          <p:grpSpPr>
            <a:xfrm rot="0">
              <a:off x="0" y="0"/>
              <a:ext cx="424613" cy="424613"/>
              <a:chOff x="0" y="0"/>
              <a:chExt cx="495300" cy="495300"/>
            </a:xfrm>
          </p:grpSpPr>
          <p:sp>
            <p:nvSpPr>
              <p:cNvPr name="Freeform 18" id="18"/>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9" id="19"/>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sp>
          <p:nvSpPr>
            <p:cNvPr name="TextBox 20" id="20"/>
            <p:cNvSpPr txBox="true"/>
            <p:nvPr/>
          </p:nvSpPr>
          <p:spPr>
            <a:xfrm rot="0">
              <a:off x="905208" y="716096"/>
              <a:ext cx="5853574" cy="438063"/>
            </a:xfrm>
            <a:prstGeom prst="rect">
              <a:avLst/>
            </a:prstGeom>
          </p:spPr>
          <p:txBody>
            <a:bodyPr anchor="t" rtlCol="false" tIns="0" lIns="0" bIns="0" rIns="0">
              <a:spAutoFit/>
            </a:bodyPr>
            <a:lstStyle/>
            <a:p>
              <a:pPr>
                <a:lnSpc>
                  <a:spcPts val="2852"/>
                </a:lnSpc>
              </a:pPr>
            </a:p>
          </p:txBody>
        </p:sp>
        <p:sp>
          <p:nvSpPr>
            <p:cNvPr name="TextBox 21" id="21"/>
            <p:cNvSpPr txBox="true"/>
            <p:nvPr/>
          </p:nvSpPr>
          <p:spPr>
            <a:xfrm rot="0">
              <a:off x="905208" y="0"/>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Стандарт SQL</a:t>
              </a:r>
            </a:p>
          </p:txBody>
        </p:sp>
      </p:grpSp>
      <p:grpSp>
        <p:nvGrpSpPr>
          <p:cNvPr name="Group 22" id="22"/>
          <p:cNvGrpSpPr/>
          <p:nvPr/>
        </p:nvGrpSpPr>
        <p:grpSpPr>
          <a:xfrm rot="0">
            <a:off x="6239964" y="7639815"/>
            <a:ext cx="5069087" cy="865619"/>
            <a:chOff x="0" y="0"/>
            <a:chExt cx="6758783" cy="1154159"/>
          </a:xfrm>
        </p:grpSpPr>
        <p:grpSp>
          <p:nvGrpSpPr>
            <p:cNvPr name="Group 23" id="23"/>
            <p:cNvGrpSpPr>
              <a:grpSpLocks noChangeAspect="true"/>
            </p:cNvGrpSpPr>
            <p:nvPr/>
          </p:nvGrpSpPr>
          <p:grpSpPr>
            <a:xfrm rot="0">
              <a:off x="0" y="0"/>
              <a:ext cx="424613" cy="424613"/>
              <a:chOff x="0" y="0"/>
              <a:chExt cx="495300" cy="495300"/>
            </a:xfrm>
          </p:grpSpPr>
          <p:sp>
            <p:nvSpPr>
              <p:cNvPr name="Freeform 24" id="24"/>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25" id="25"/>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sp>
          <p:nvSpPr>
            <p:cNvPr name="TextBox 26" id="26"/>
            <p:cNvSpPr txBox="true"/>
            <p:nvPr/>
          </p:nvSpPr>
          <p:spPr>
            <a:xfrm rot="0">
              <a:off x="905208" y="716096"/>
              <a:ext cx="5853574" cy="438063"/>
            </a:xfrm>
            <a:prstGeom prst="rect">
              <a:avLst/>
            </a:prstGeom>
          </p:spPr>
          <p:txBody>
            <a:bodyPr anchor="t" rtlCol="false" tIns="0" lIns="0" bIns="0" rIns="0">
              <a:spAutoFit/>
            </a:bodyPr>
            <a:lstStyle/>
            <a:p>
              <a:pPr>
                <a:lnSpc>
                  <a:spcPts val="2852"/>
                </a:lnSpc>
              </a:pPr>
            </a:p>
          </p:txBody>
        </p:sp>
        <p:sp>
          <p:nvSpPr>
            <p:cNvPr name="TextBox 27" id="27"/>
            <p:cNvSpPr txBox="true"/>
            <p:nvPr/>
          </p:nvSpPr>
          <p:spPr>
            <a:xfrm rot="0">
              <a:off x="905208" y="0"/>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Продуктиність</a:t>
              </a:r>
            </a:p>
          </p:txBody>
        </p:sp>
      </p:grpSp>
      <p:sp>
        <p:nvSpPr>
          <p:cNvPr name="TextBox 28" id="28"/>
          <p:cNvSpPr txBox="true"/>
          <p:nvPr/>
        </p:nvSpPr>
        <p:spPr>
          <a:xfrm rot="0">
            <a:off x="6950534" y="4132320"/>
            <a:ext cx="10308766"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MySQL - це реляційна база даних, </a:t>
            </a:r>
            <a:r>
              <a:rPr lang="en-US" sz="1950">
                <a:solidFill>
                  <a:srgbClr val="000000"/>
                </a:solidFill>
                <a:latin typeface="HK Grotesk Light"/>
              </a:rPr>
              <a:t>для зберігання даних у таблицях використовуються різні движки, а робота з переміщенням спрацьована в самій системі. Підтримуються такі механізми зберігання даних, як MyISAM, InnoDB, MEMORY, Berkeley DB.</a:t>
            </a:r>
          </a:p>
        </p:txBody>
      </p:sp>
      <p:sp>
        <p:nvSpPr>
          <p:cNvPr name="TextBox 29" id="29"/>
          <p:cNvSpPr txBox="true"/>
          <p:nvPr/>
        </p:nvSpPr>
        <p:spPr>
          <a:xfrm rot="0">
            <a:off x="6950534" y="6031103"/>
            <a:ext cx="10308766"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MySQL має п</a:t>
            </a:r>
            <a:r>
              <a:rPr lang="en-US" sz="1950">
                <a:solidFill>
                  <a:srgbClr val="000000"/>
                </a:solidFill>
                <a:latin typeface="HK Grotesk Light"/>
              </a:rPr>
              <a:t>ідтримку не всіх функцій та можливостей SQL. Це зроблено для того, щоб працювати з MySQL було просто і зручно. Але якщо для проекту необхідне якесь розширення розробники його можуть додати не на шкоду стандарту.</a:t>
            </a:r>
          </a:p>
        </p:txBody>
      </p:sp>
      <p:sp>
        <p:nvSpPr>
          <p:cNvPr name="TextBox 30" id="30"/>
          <p:cNvSpPr txBox="true"/>
          <p:nvPr/>
        </p:nvSpPr>
        <p:spPr>
          <a:xfrm rot="0">
            <a:off x="6950534" y="7977375"/>
            <a:ext cx="10308766"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Зазвичай для організації роботи з</a:t>
            </a:r>
            <a:r>
              <a:rPr lang="en-US" sz="1950">
                <a:solidFill>
                  <a:srgbClr val="000000"/>
                </a:solidFill>
                <a:latin typeface="HK Grotesk Light"/>
              </a:rPr>
              <a:t> базою даних в MySQL використовується таблиця InnoDB, ця таблиця представляє з себе Б-дерево з індексами. Індекси дозволяють дуже швидко отримати дані з диска і для цього буде потрібно менше дискових операцій.</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3239" y="4099546"/>
            <a:ext cx="13970085" cy="375066"/>
            <a:chOff x="0" y="0"/>
            <a:chExt cx="18626779" cy="500088"/>
          </a:xfrm>
        </p:grpSpPr>
        <p:sp>
          <p:nvSpPr>
            <p:cNvPr name="AutoShape 3" id="3"/>
            <p:cNvSpPr/>
            <p:nvPr/>
          </p:nvSpPr>
          <p:spPr>
            <a:xfrm rot="0">
              <a:off x="145401" y="226647"/>
              <a:ext cx="18189462" cy="26456"/>
            </a:xfrm>
            <a:prstGeom prst="rect">
              <a:avLst/>
            </a:prstGeom>
            <a:solidFill>
              <a:srgbClr val="1C1C1E"/>
            </a:solidFill>
          </p:spPr>
        </p:sp>
        <p:grpSp>
          <p:nvGrpSpPr>
            <p:cNvPr name="Group 4" id="4"/>
            <p:cNvGrpSpPr>
              <a:grpSpLocks noChangeAspect="true"/>
            </p:cNvGrpSpPr>
            <p:nvPr/>
          </p:nvGrpSpPr>
          <p:grpSpPr>
            <a:xfrm rot="0">
              <a:off x="0" y="0"/>
              <a:ext cx="500088" cy="500088"/>
              <a:chOff x="0" y="0"/>
              <a:chExt cx="495300" cy="495300"/>
            </a:xfrm>
          </p:grpSpPr>
          <p:sp>
            <p:nvSpPr>
              <p:cNvPr name="Freeform 5" id="5"/>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6" id="6"/>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grpSp>
          <p:nvGrpSpPr>
            <p:cNvPr name="Group 7" id="7"/>
            <p:cNvGrpSpPr>
              <a:grpSpLocks noChangeAspect="true"/>
            </p:cNvGrpSpPr>
            <p:nvPr/>
          </p:nvGrpSpPr>
          <p:grpSpPr>
            <a:xfrm rot="0">
              <a:off x="4531673" y="0"/>
              <a:ext cx="500088" cy="500088"/>
              <a:chOff x="0" y="0"/>
              <a:chExt cx="495300" cy="495300"/>
            </a:xfrm>
          </p:grpSpPr>
          <p:sp>
            <p:nvSpPr>
              <p:cNvPr name="Freeform 8" id="8"/>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9" id="9"/>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grpSp>
          <p:nvGrpSpPr>
            <p:cNvPr name="Group 10" id="10"/>
            <p:cNvGrpSpPr>
              <a:grpSpLocks noChangeAspect="true"/>
            </p:cNvGrpSpPr>
            <p:nvPr/>
          </p:nvGrpSpPr>
          <p:grpSpPr>
            <a:xfrm rot="0">
              <a:off x="9063346" y="0"/>
              <a:ext cx="500088" cy="500088"/>
              <a:chOff x="0" y="0"/>
              <a:chExt cx="495300" cy="495300"/>
            </a:xfrm>
          </p:grpSpPr>
          <p:sp>
            <p:nvSpPr>
              <p:cNvPr name="Freeform 11" id="11"/>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2" id="12"/>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grpSp>
          <p:nvGrpSpPr>
            <p:cNvPr name="Group 13" id="13"/>
            <p:cNvGrpSpPr>
              <a:grpSpLocks noChangeAspect="true"/>
            </p:cNvGrpSpPr>
            <p:nvPr/>
          </p:nvGrpSpPr>
          <p:grpSpPr>
            <a:xfrm rot="0">
              <a:off x="13595018" y="0"/>
              <a:ext cx="500088" cy="500088"/>
              <a:chOff x="0" y="0"/>
              <a:chExt cx="495300" cy="495300"/>
            </a:xfrm>
          </p:grpSpPr>
          <p:sp>
            <p:nvSpPr>
              <p:cNvPr name="Freeform 14" id="14"/>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5" id="15"/>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grpSp>
          <p:nvGrpSpPr>
            <p:cNvPr name="Group 16" id="16"/>
            <p:cNvGrpSpPr>
              <a:grpSpLocks noChangeAspect="true"/>
            </p:cNvGrpSpPr>
            <p:nvPr/>
          </p:nvGrpSpPr>
          <p:grpSpPr>
            <a:xfrm rot="0">
              <a:off x="18126691" y="0"/>
              <a:ext cx="500088" cy="500088"/>
              <a:chOff x="0" y="0"/>
              <a:chExt cx="495300" cy="495300"/>
            </a:xfrm>
          </p:grpSpPr>
          <p:sp>
            <p:nvSpPr>
              <p:cNvPr name="Freeform 17" id="17"/>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8" id="18"/>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grpSp>
      <p:sp>
        <p:nvSpPr>
          <p:cNvPr name="TextBox 19" id="19"/>
          <p:cNvSpPr txBox="true"/>
          <p:nvPr/>
        </p:nvSpPr>
        <p:spPr>
          <a:xfrm rot="0">
            <a:off x="985094" y="1158592"/>
            <a:ext cx="15881767" cy="2469293"/>
          </a:xfrm>
          <a:prstGeom prst="rect">
            <a:avLst/>
          </a:prstGeom>
        </p:spPr>
        <p:txBody>
          <a:bodyPr anchor="t" rtlCol="false" tIns="0" lIns="0" bIns="0" rIns="0">
            <a:spAutoFit/>
          </a:bodyPr>
          <a:lstStyle/>
          <a:p>
            <a:pPr algn="ctr">
              <a:lnSpc>
                <a:spcPts val="9499"/>
              </a:lnSpc>
            </a:pPr>
            <a:r>
              <a:rPr lang="en-US" sz="9999" spc="-299">
                <a:solidFill>
                  <a:srgbClr val="1C1C1E"/>
                </a:solidFill>
                <a:latin typeface="HK Grotesk Bold"/>
              </a:rPr>
              <a:t>Етапи розробри функціоналу бази даних</a:t>
            </a:r>
          </a:p>
        </p:txBody>
      </p:sp>
      <p:grpSp>
        <p:nvGrpSpPr>
          <p:cNvPr name="Group 20" id="20"/>
          <p:cNvGrpSpPr/>
          <p:nvPr/>
        </p:nvGrpSpPr>
        <p:grpSpPr>
          <a:xfrm rot="0">
            <a:off x="5960160" y="4893088"/>
            <a:ext cx="2805743" cy="3861561"/>
            <a:chOff x="0" y="0"/>
            <a:chExt cx="3740991" cy="5148748"/>
          </a:xfrm>
        </p:grpSpPr>
        <p:sp>
          <p:nvSpPr>
            <p:cNvPr name="TextBox 21" id="21"/>
            <p:cNvSpPr txBox="true"/>
            <p:nvPr/>
          </p:nvSpPr>
          <p:spPr>
            <a:xfrm rot="0">
              <a:off x="0" y="1316048"/>
              <a:ext cx="3740991" cy="3832700"/>
            </a:xfrm>
            <a:prstGeom prst="rect">
              <a:avLst/>
            </a:prstGeom>
          </p:spPr>
          <p:txBody>
            <a:bodyPr anchor="t" rtlCol="false" tIns="0" lIns="0" bIns="0" rIns="0">
              <a:spAutoFit/>
            </a:bodyPr>
            <a:lstStyle/>
            <a:p>
              <a:pPr algn="ctr">
                <a:lnSpc>
                  <a:spcPts val="3359"/>
                </a:lnSpc>
              </a:pPr>
              <a:r>
                <a:rPr lang="en-US" sz="2399">
                  <a:solidFill>
                    <a:srgbClr val="1C1C1E"/>
                  </a:solidFill>
                  <a:latin typeface="HK Grotesk Light"/>
                </a:rPr>
                <a:t>Тригери за своєю суттю представляють обробники подій та дзволяють автоматизувати деякі рутинні дії.</a:t>
              </a:r>
            </a:p>
          </p:txBody>
        </p:sp>
        <p:sp>
          <p:nvSpPr>
            <p:cNvPr name="TextBox 22" id="22"/>
            <p:cNvSpPr txBox="true"/>
            <p:nvPr/>
          </p:nvSpPr>
          <p:spPr>
            <a:xfrm rot="0">
              <a:off x="0" y="0"/>
              <a:ext cx="3740991"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Тригери</a:t>
              </a:r>
            </a:p>
          </p:txBody>
        </p:sp>
      </p:grpSp>
      <p:grpSp>
        <p:nvGrpSpPr>
          <p:cNvPr name="Group 23" id="23"/>
          <p:cNvGrpSpPr/>
          <p:nvPr/>
        </p:nvGrpSpPr>
        <p:grpSpPr>
          <a:xfrm rot="0">
            <a:off x="9259973" y="4800272"/>
            <a:ext cx="2836682" cy="4690066"/>
            <a:chOff x="0" y="0"/>
            <a:chExt cx="3782242" cy="6253421"/>
          </a:xfrm>
        </p:grpSpPr>
        <p:sp>
          <p:nvSpPr>
            <p:cNvPr name="TextBox 24" id="24"/>
            <p:cNvSpPr txBox="true"/>
            <p:nvPr/>
          </p:nvSpPr>
          <p:spPr>
            <a:xfrm rot="0">
              <a:off x="0" y="1316048"/>
              <a:ext cx="3782242" cy="4937373"/>
            </a:xfrm>
            <a:prstGeom prst="rect">
              <a:avLst/>
            </a:prstGeom>
          </p:spPr>
          <p:txBody>
            <a:bodyPr anchor="t" rtlCol="false" tIns="0" lIns="0" bIns="0" rIns="0">
              <a:spAutoFit/>
            </a:bodyPr>
            <a:lstStyle/>
            <a:p>
              <a:pPr algn="ctr">
                <a:lnSpc>
                  <a:spcPts val="3359"/>
                </a:lnSpc>
              </a:pPr>
              <a:r>
                <a:rPr lang="en-US" sz="2399">
                  <a:solidFill>
                    <a:srgbClr val="1C1C1E"/>
                  </a:solidFill>
                  <a:latin typeface="HK Grotesk Light"/>
                </a:rPr>
                <a:t>Збережена функція реалізує певний алгоритм, що забезпечує повернення нею певного типу даних і дозволяє звернення до неї з різних частин.</a:t>
              </a:r>
            </a:p>
          </p:txBody>
        </p:sp>
        <p:sp>
          <p:nvSpPr>
            <p:cNvPr name="TextBox 25" id="25"/>
            <p:cNvSpPr txBox="true"/>
            <p:nvPr/>
          </p:nvSpPr>
          <p:spPr>
            <a:xfrm rot="0">
              <a:off x="0" y="0"/>
              <a:ext cx="3782242"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Функції</a:t>
              </a:r>
            </a:p>
          </p:txBody>
        </p:sp>
      </p:grpSp>
      <p:grpSp>
        <p:nvGrpSpPr>
          <p:cNvPr name="Group 26" id="26"/>
          <p:cNvGrpSpPr/>
          <p:nvPr/>
        </p:nvGrpSpPr>
        <p:grpSpPr>
          <a:xfrm rot="0">
            <a:off x="12569114" y="4893088"/>
            <a:ext cx="2635582" cy="3033056"/>
            <a:chOff x="0" y="0"/>
            <a:chExt cx="3514109" cy="4044075"/>
          </a:xfrm>
        </p:grpSpPr>
        <p:sp>
          <p:nvSpPr>
            <p:cNvPr name="TextBox 27" id="27"/>
            <p:cNvSpPr txBox="true"/>
            <p:nvPr/>
          </p:nvSpPr>
          <p:spPr>
            <a:xfrm rot="0">
              <a:off x="0" y="1316048"/>
              <a:ext cx="3514109" cy="2728027"/>
            </a:xfrm>
            <a:prstGeom prst="rect">
              <a:avLst/>
            </a:prstGeom>
          </p:spPr>
          <p:txBody>
            <a:bodyPr anchor="t" rtlCol="false" tIns="0" lIns="0" bIns="0" rIns="0">
              <a:spAutoFit/>
            </a:bodyPr>
            <a:lstStyle/>
            <a:p>
              <a:pPr algn="ctr">
                <a:lnSpc>
                  <a:spcPts val="3359"/>
                </a:lnSpc>
              </a:pPr>
              <a:r>
                <a:rPr lang="en-US" sz="2399">
                  <a:solidFill>
                    <a:srgbClr val="1C1C1E"/>
                  </a:solidFill>
                  <a:latin typeface="HK Grotesk Light"/>
                </a:rPr>
                <a:t>Проекція - це віртуальна таблиця, вміст якої визначається запитом.</a:t>
              </a:r>
            </a:p>
          </p:txBody>
        </p:sp>
        <p:sp>
          <p:nvSpPr>
            <p:cNvPr name="TextBox 28" id="28"/>
            <p:cNvSpPr txBox="true"/>
            <p:nvPr/>
          </p:nvSpPr>
          <p:spPr>
            <a:xfrm rot="0">
              <a:off x="0" y="0"/>
              <a:ext cx="3514109"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Проекції</a:t>
              </a:r>
            </a:p>
          </p:txBody>
        </p:sp>
      </p:grpSp>
      <p:grpSp>
        <p:nvGrpSpPr>
          <p:cNvPr name="Group 29" id="29"/>
          <p:cNvGrpSpPr/>
          <p:nvPr/>
        </p:nvGrpSpPr>
        <p:grpSpPr>
          <a:xfrm rot="0">
            <a:off x="103349" y="5015776"/>
            <a:ext cx="2480890" cy="3033056"/>
            <a:chOff x="0" y="0"/>
            <a:chExt cx="3307853" cy="4044075"/>
          </a:xfrm>
        </p:grpSpPr>
        <p:sp>
          <p:nvSpPr>
            <p:cNvPr name="TextBox 30" id="30"/>
            <p:cNvSpPr txBox="true"/>
            <p:nvPr/>
          </p:nvSpPr>
          <p:spPr>
            <a:xfrm rot="0">
              <a:off x="0" y="1316048"/>
              <a:ext cx="3307853" cy="2728027"/>
            </a:xfrm>
            <a:prstGeom prst="rect">
              <a:avLst/>
            </a:prstGeom>
          </p:spPr>
          <p:txBody>
            <a:bodyPr anchor="t" rtlCol="false" tIns="0" lIns="0" bIns="0" rIns="0">
              <a:spAutoFit/>
            </a:bodyPr>
            <a:lstStyle/>
            <a:p>
              <a:pPr algn="ctr">
                <a:lnSpc>
                  <a:spcPts val="3359"/>
                </a:lnSpc>
              </a:pPr>
              <a:r>
                <a:rPr lang="en-US" sz="2400">
                  <a:solidFill>
                    <a:srgbClr val="1C1C1E"/>
                  </a:solidFill>
                  <a:latin typeface="HK Grotesk Light"/>
                </a:rPr>
                <a:t>Запит - це засіб вибору необхідної інформації з бази даних.</a:t>
              </a:r>
            </a:p>
          </p:txBody>
        </p:sp>
        <p:sp>
          <p:nvSpPr>
            <p:cNvPr name="TextBox 31" id="31"/>
            <p:cNvSpPr txBox="true"/>
            <p:nvPr/>
          </p:nvSpPr>
          <p:spPr>
            <a:xfrm rot="0">
              <a:off x="0" y="0"/>
              <a:ext cx="3307853"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Запити</a:t>
              </a:r>
            </a:p>
          </p:txBody>
        </p:sp>
      </p:grpSp>
      <p:grpSp>
        <p:nvGrpSpPr>
          <p:cNvPr name="Group 32" id="32"/>
          <p:cNvGrpSpPr/>
          <p:nvPr/>
        </p:nvGrpSpPr>
        <p:grpSpPr>
          <a:xfrm rot="0">
            <a:off x="2805988" y="4893088"/>
            <a:ext cx="2728397" cy="3861561"/>
            <a:chOff x="0" y="0"/>
            <a:chExt cx="3637863" cy="5148748"/>
          </a:xfrm>
        </p:grpSpPr>
        <p:sp>
          <p:nvSpPr>
            <p:cNvPr name="TextBox 33" id="33"/>
            <p:cNvSpPr txBox="true"/>
            <p:nvPr/>
          </p:nvSpPr>
          <p:spPr>
            <a:xfrm rot="0">
              <a:off x="0" y="1316048"/>
              <a:ext cx="3637863" cy="3832700"/>
            </a:xfrm>
            <a:prstGeom prst="rect">
              <a:avLst/>
            </a:prstGeom>
          </p:spPr>
          <p:txBody>
            <a:bodyPr anchor="t" rtlCol="false" tIns="0" lIns="0" bIns="0" rIns="0">
              <a:spAutoFit/>
            </a:bodyPr>
            <a:lstStyle/>
            <a:p>
              <a:pPr algn="ctr">
                <a:lnSpc>
                  <a:spcPts val="3359"/>
                </a:lnSpc>
              </a:pPr>
              <a:r>
                <a:rPr lang="en-US" sz="2399">
                  <a:solidFill>
                    <a:srgbClr val="1C1C1E"/>
                  </a:solidFill>
                  <a:latin typeface="HK Grotesk Light"/>
                </a:rPr>
                <a:t>Збережена процедура являє собою підпрограму мовою SQL. Можуть виконувати транзакції.</a:t>
              </a:r>
            </a:p>
          </p:txBody>
        </p:sp>
        <p:sp>
          <p:nvSpPr>
            <p:cNvPr name="TextBox 34" id="34"/>
            <p:cNvSpPr txBox="true"/>
            <p:nvPr/>
          </p:nvSpPr>
          <p:spPr>
            <a:xfrm rot="0">
              <a:off x="0" y="0"/>
              <a:ext cx="3637863"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Процедури</a:t>
              </a:r>
            </a:p>
          </p:txBody>
        </p:sp>
      </p:grpSp>
      <p:grpSp>
        <p:nvGrpSpPr>
          <p:cNvPr name="Group 35" id="35"/>
          <p:cNvGrpSpPr/>
          <p:nvPr/>
        </p:nvGrpSpPr>
        <p:grpSpPr>
          <a:xfrm rot="0">
            <a:off x="3881337" y="4099546"/>
            <a:ext cx="13970085" cy="375066"/>
            <a:chOff x="0" y="0"/>
            <a:chExt cx="18626779" cy="500088"/>
          </a:xfrm>
        </p:grpSpPr>
        <p:sp>
          <p:nvSpPr>
            <p:cNvPr name="AutoShape 36" id="36"/>
            <p:cNvSpPr/>
            <p:nvPr/>
          </p:nvSpPr>
          <p:spPr>
            <a:xfrm rot="0">
              <a:off x="145401" y="226647"/>
              <a:ext cx="18189462" cy="26456"/>
            </a:xfrm>
            <a:prstGeom prst="rect">
              <a:avLst/>
            </a:prstGeom>
            <a:solidFill>
              <a:srgbClr val="1C1C1E"/>
            </a:solidFill>
          </p:spPr>
        </p:sp>
        <p:grpSp>
          <p:nvGrpSpPr>
            <p:cNvPr name="Group 37" id="37"/>
            <p:cNvGrpSpPr>
              <a:grpSpLocks noChangeAspect="true"/>
            </p:cNvGrpSpPr>
            <p:nvPr/>
          </p:nvGrpSpPr>
          <p:grpSpPr>
            <a:xfrm rot="0">
              <a:off x="0" y="0"/>
              <a:ext cx="500088" cy="500088"/>
              <a:chOff x="0" y="0"/>
              <a:chExt cx="495300" cy="495300"/>
            </a:xfrm>
          </p:grpSpPr>
          <p:sp>
            <p:nvSpPr>
              <p:cNvPr name="Freeform 38" id="38"/>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39" id="39"/>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grpSp>
          <p:nvGrpSpPr>
            <p:cNvPr name="Group 40" id="40"/>
            <p:cNvGrpSpPr>
              <a:grpSpLocks noChangeAspect="true"/>
            </p:cNvGrpSpPr>
            <p:nvPr/>
          </p:nvGrpSpPr>
          <p:grpSpPr>
            <a:xfrm rot="0">
              <a:off x="4531673" y="0"/>
              <a:ext cx="500088" cy="500088"/>
              <a:chOff x="0" y="0"/>
              <a:chExt cx="495300" cy="495300"/>
            </a:xfrm>
          </p:grpSpPr>
          <p:sp>
            <p:nvSpPr>
              <p:cNvPr name="Freeform 41" id="41"/>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42" id="42"/>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grpSp>
          <p:nvGrpSpPr>
            <p:cNvPr name="Group 43" id="43"/>
            <p:cNvGrpSpPr>
              <a:grpSpLocks noChangeAspect="true"/>
            </p:cNvGrpSpPr>
            <p:nvPr/>
          </p:nvGrpSpPr>
          <p:grpSpPr>
            <a:xfrm rot="0">
              <a:off x="9063346" y="0"/>
              <a:ext cx="500088" cy="500088"/>
              <a:chOff x="0" y="0"/>
              <a:chExt cx="495300" cy="495300"/>
            </a:xfrm>
          </p:grpSpPr>
          <p:sp>
            <p:nvSpPr>
              <p:cNvPr name="Freeform 44" id="44"/>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45" id="45"/>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grpSp>
          <p:nvGrpSpPr>
            <p:cNvPr name="Group 46" id="46"/>
            <p:cNvGrpSpPr>
              <a:grpSpLocks noChangeAspect="true"/>
            </p:cNvGrpSpPr>
            <p:nvPr/>
          </p:nvGrpSpPr>
          <p:grpSpPr>
            <a:xfrm rot="0">
              <a:off x="13595018" y="0"/>
              <a:ext cx="500088" cy="500088"/>
              <a:chOff x="0" y="0"/>
              <a:chExt cx="495300" cy="495300"/>
            </a:xfrm>
          </p:grpSpPr>
          <p:sp>
            <p:nvSpPr>
              <p:cNvPr name="Freeform 47" id="47"/>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48" id="48"/>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grpSp>
          <p:nvGrpSpPr>
            <p:cNvPr name="Group 49" id="49"/>
            <p:cNvGrpSpPr>
              <a:grpSpLocks noChangeAspect="true"/>
            </p:cNvGrpSpPr>
            <p:nvPr/>
          </p:nvGrpSpPr>
          <p:grpSpPr>
            <a:xfrm rot="0">
              <a:off x="18126691" y="0"/>
              <a:ext cx="500088" cy="500088"/>
              <a:chOff x="0" y="0"/>
              <a:chExt cx="495300" cy="495300"/>
            </a:xfrm>
          </p:grpSpPr>
          <p:sp>
            <p:nvSpPr>
              <p:cNvPr name="Freeform 50" id="50"/>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51" id="51"/>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DE59"/>
              </a:solidFill>
            </p:spPr>
          </p:sp>
        </p:grpSp>
      </p:grpSp>
      <p:grpSp>
        <p:nvGrpSpPr>
          <p:cNvPr name="Group 52" id="52"/>
          <p:cNvGrpSpPr/>
          <p:nvPr/>
        </p:nvGrpSpPr>
        <p:grpSpPr>
          <a:xfrm rot="0">
            <a:off x="15549070" y="4893088"/>
            <a:ext cx="2635582" cy="4275813"/>
            <a:chOff x="0" y="0"/>
            <a:chExt cx="3514109" cy="5701085"/>
          </a:xfrm>
        </p:grpSpPr>
        <p:sp>
          <p:nvSpPr>
            <p:cNvPr name="TextBox 53" id="53"/>
            <p:cNvSpPr txBox="true"/>
            <p:nvPr/>
          </p:nvSpPr>
          <p:spPr>
            <a:xfrm rot="0">
              <a:off x="0" y="1316048"/>
              <a:ext cx="3514109" cy="4385037"/>
            </a:xfrm>
            <a:prstGeom prst="rect">
              <a:avLst/>
            </a:prstGeom>
          </p:spPr>
          <p:txBody>
            <a:bodyPr anchor="t" rtlCol="false" tIns="0" lIns="0" bIns="0" rIns="0">
              <a:spAutoFit/>
            </a:bodyPr>
            <a:lstStyle/>
            <a:p>
              <a:pPr algn="ctr">
                <a:lnSpc>
                  <a:spcPts val="3359"/>
                </a:lnSpc>
              </a:pPr>
              <a:r>
                <a:rPr lang="en-US" sz="2399">
                  <a:solidFill>
                    <a:srgbClr val="1C1C1E"/>
                  </a:solidFill>
                  <a:latin typeface="HK Grotesk Light"/>
                </a:rPr>
                <a:t>Користувач бази даних - це користувач, за допомогою якого здійснюється доступ до різних елеметів бази даних.</a:t>
              </a:r>
            </a:p>
          </p:txBody>
        </p:sp>
        <p:sp>
          <p:nvSpPr>
            <p:cNvPr name="TextBox 54" id="54"/>
            <p:cNvSpPr txBox="true"/>
            <p:nvPr/>
          </p:nvSpPr>
          <p:spPr>
            <a:xfrm rot="0">
              <a:off x="0" y="0"/>
              <a:ext cx="3514109"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Користувачі</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3860072" y="5300934"/>
            <a:ext cx="3499648" cy="3673295"/>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3513398">
            <a:off x="15734911" y="7565040"/>
            <a:ext cx="667077" cy="667077"/>
          </a:xfrm>
          <a:prstGeom prst="rect">
            <a:avLst/>
          </a:prstGeom>
        </p:spPr>
      </p:pic>
      <p:sp>
        <p:nvSpPr>
          <p:cNvPr name="TextBox 4" id="4"/>
          <p:cNvSpPr txBox="true"/>
          <p:nvPr/>
        </p:nvSpPr>
        <p:spPr>
          <a:xfrm rot="0">
            <a:off x="571105" y="777162"/>
            <a:ext cx="8544081" cy="967224"/>
          </a:xfrm>
          <a:prstGeom prst="rect">
            <a:avLst/>
          </a:prstGeom>
        </p:spPr>
        <p:txBody>
          <a:bodyPr anchor="t" rtlCol="false" tIns="0" lIns="0" bIns="0" rIns="0">
            <a:spAutoFit/>
          </a:bodyPr>
          <a:lstStyle/>
          <a:p>
            <a:pPr>
              <a:lnSpc>
                <a:spcPts val="7200"/>
              </a:lnSpc>
            </a:pPr>
            <a:r>
              <a:rPr lang="en-US" sz="7200" spc="-215">
                <a:solidFill>
                  <a:srgbClr val="1C1C1E"/>
                </a:solidFill>
                <a:latin typeface="HK Grotesk Medium"/>
              </a:rPr>
              <a:t>Створення запитів </a:t>
            </a:r>
          </a:p>
        </p:txBody>
      </p:sp>
      <p:pic>
        <p:nvPicPr>
          <p:cNvPr name="Picture 5" id="5"/>
          <p:cNvPicPr>
            <a:picLocks noChangeAspect="true"/>
          </p:cNvPicPr>
          <p:nvPr/>
        </p:nvPicPr>
        <p:blipFill>
          <a:blip r:embed="rId4"/>
          <a:srcRect l="0" t="0" r="0" b="0"/>
          <a:stretch>
            <a:fillRect/>
          </a:stretch>
        </p:blipFill>
        <p:spPr>
          <a:xfrm flipH="false" flipV="false" rot="1397586">
            <a:off x="17530619" y="-525639"/>
            <a:ext cx="1895690" cy="1762992"/>
          </a:xfrm>
          <a:prstGeom prst="rect">
            <a:avLst/>
          </a:prstGeom>
        </p:spPr>
      </p:pic>
      <p:grpSp>
        <p:nvGrpSpPr>
          <p:cNvPr name="Group 6" id="6"/>
          <p:cNvGrpSpPr/>
          <p:nvPr/>
        </p:nvGrpSpPr>
        <p:grpSpPr>
          <a:xfrm rot="0">
            <a:off x="-571105" y="3664601"/>
            <a:ext cx="1142211" cy="1142211"/>
            <a:chOff x="0" y="0"/>
            <a:chExt cx="6350000" cy="6350000"/>
          </a:xfrm>
        </p:grpSpPr>
        <p:sp>
          <p:nvSpPr>
            <p:cNvPr name="Freeform 7" id="7"/>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sp>
        <p:nvSpPr>
          <p:cNvPr name="TextBox 8" id="8"/>
          <p:cNvSpPr txBox="true"/>
          <p:nvPr/>
        </p:nvSpPr>
        <p:spPr>
          <a:xfrm rot="0">
            <a:off x="680514" y="3183230"/>
            <a:ext cx="16230600" cy="1480185"/>
          </a:xfrm>
          <a:prstGeom prst="rect">
            <a:avLst/>
          </a:prstGeom>
        </p:spPr>
        <p:txBody>
          <a:bodyPr anchor="t" rtlCol="false" tIns="0" lIns="0" bIns="0" rIns="0">
            <a:spAutoFit/>
          </a:bodyPr>
          <a:lstStyle/>
          <a:p>
            <a:pPr>
              <a:lnSpc>
                <a:spcPts val="2940"/>
              </a:lnSpc>
            </a:pPr>
            <a:r>
              <a:rPr lang="en-US" sz="2100">
                <a:solidFill>
                  <a:srgbClr val="000000"/>
                </a:solidFill>
                <a:latin typeface="HK Grotesk Light"/>
              </a:rPr>
              <a:t>Якщо база даних побудована правильно, дані, які необхідно витягнути з неї, в основному містяться в кількох різних таблицях. Запит дає змогу отримувати відомості з різних таблиць і збирати їх для відображення у вигляді таблиці. За допомогою запиту можна отримати відповідь на просте запитання, виконати розрахунки, об’єднати дані з різних таблиць. Внаслідок такої універсальності існує багато типів запитів, які можна створювати відповідно до завдання.</a:t>
            </a:r>
          </a:p>
        </p:txBody>
      </p:sp>
      <p:sp>
        <p:nvSpPr>
          <p:cNvPr name="TextBox 9" id="9"/>
          <p:cNvSpPr txBox="true"/>
          <p:nvPr/>
        </p:nvSpPr>
        <p:spPr>
          <a:xfrm rot="0">
            <a:off x="599919" y="1668186"/>
            <a:ext cx="11787692" cy="1225550"/>
          </a:xfrm>
          <a:prstGeom prst="rect">
            <a:avLst/>
          </a:prstGeom>
        </p:spPr>
        <p:txBody>
          <a:bodyPr anchor="t" rtlCol="false" tIns="0" lIns="0" bIns="0" rIns="0">
            <a:spAutoFit/>
          </a:bodyPr>
          <a:lstStyle/>
          <a:p>
            <a:pPr>
              <a:lnSpc>
                <a:spcPts val="4900"/>
              </a:lnSpc>
            </a:pPr>
            <a:r>
              <a:rPr lang="en-US" sz="3500">
                <a:solidFill>
                  <a:srgbClr val="000000"/>
                </a:solidFill>
                <a:latin typeface="HK Grotesk Medium"/>
              </a:rPr>
              <a:t>За </a:t>
            </a:r>
            <a:r>
              <a:rPr lang="en-US" sz="3500">
                <a:solidFill>
                  <a:srgbClr val="000000"/>
                </a:solidFill>
                <a:latin typeface="HK Grotesk Medium"/>
              </a:rPr>
              <a:t>допомогою запитів полегшується пошук даних і робота з ними</a:t>
            </a:r>
          </a:p>
        </p:txBody>
      </p:sp>
      <p:sp>
        <p:nvSpPr>
          <p:cNvPr name="AutoShape 10" id="10"/>
          <p:cNvSpPr/>
          <p:nvPr/>
        </p:nvSpPr>
        <p:spPr>
          <a:xfrm rot="0">
            <a:off x="680514" y="5839370"/>
            <a:ext cx="10697425" cy="40463"/>
          </a:xfrm>
          <a:prstGeom prst="rect">
            <a:avLst/>
          </a:prstGeom>
          <a:solidFill>
            <a:srgbClr val="000000"/>
          </a:solidFill>
        </p:spPr>
      </p:sp>
      <p:sp>
        <p:nvSpPr>
          <p:cNvPr name="TextBox 11" id="11"/>
          <p:cNvSpPr txBox="true"/>
          <p:nvPr/>
        </p:nvSpPr>
        <p:spPr>
          <a:xfrm rot="0">
            <a:off x="680514" y="5381870"/>
            <a:ext cx="9800210" cy="457501"/>
          </a:xfrm>
          <a:prstGeom prst="rect">
            <a:avLst/>
          </a:prstGeom>
        </p:spPr>
        <p:txBody>
          <a:bodyPr anchor="t" rtlCol="false" tIns="0" lIns="0" bIns="0" rIns="0">
            <a:spAutoFit/>
          </a:bodyPr>
          <a:lstStyle/>
          <a:p>
            <a:pPr>
              <a:lnSpc>
                <a:spcPts val="3657"/>
              </a:lnSpc>
            </a:pPr>
            <a:r>
              <a:rPr lang="en-US" sz="3048" spc="91">
                <a:solidFill>
                  <a:srgbClr val="100F0D"/>
                </a:solidFill>
                <a:latin typeface="HK Grotesk Light"/>
              </a:rPr>
              <a:t>Загальна структура запиту виглядає таким чином</a:t>
            </a:r>
          </a:p>
        </p:txBody>
      </p:sp>
      <p:sp>
        <p:nvSpPr>
          <p:cNvPr name="TextBox 12" id="12"/>
          <p:cNvSpPr txBox="true"/>
          <p:nvPr/>
        </p:nvSpPr>
        <p:spPr>
          <a:xfrm rot="0">
            <a:off x="680514" y="6121050"/>
            <a:ext cx="10362475" cy="1994962"/>
          </a:xfrm>
          <a:prstGeom prst="rect">
            <a:avLst/>
          </a:prstGeom>
        </p:spPr>
        <p:txBody>
          <a:bodyPr anchor="t" rtlCol="false" tIns="0" lIns="0" bIns="0" rIns="0">
            <a:spAutoFit/>
          </a:bodyPr>
          <a:lstStyle/>
          <a:p>
            <a:pPr>
              <a:lnSpc>
                <a:spcPts val="2679"/>
              </a:lnSpc>
            </a:pPr>
            <a:r>
              <a:rPr lang="en-US" sz="1914">
                <a:solidFill>
                  <a:srgbClr val="000000"/>
                </a:solidFill>
                <a:latin typeface="Muli Regular"/>
              </a:rPr>
              <a:t>SELECT ('стовпці</a:t>
            </a:r>
            <a:r>
              <a:rPr lang="en-US" sz="1914">
                <a:solidFill>
                  <a:srgbClr val="000000"/>
                </a:solidFill>
                <a:latin typeface="Muli Regular"/>
              </a:rPr>
              <a:t> чи * для вибору всіх стовпців; обов'язкове поле')</a:t>
            </a:r>
          </a:p>
          <a:p>
            <a:pPr>
              <a:lnSpc>
                <a:spcPts val="2679"/>
              </a:lnSpc>
            </a:pPr>
            <a:r>
              <a:rPr lang="en-US" sz="1914">
                <a:solidFill>
                  <a:srgbClr val="000000"/>
                </a:solidFill>
                <a:latin typeface="Muli Regular"/>
              </a:rPr>
              <a:t>FROM ('таблиця; обов'язкове поле')</a:t>
            </a:r>
          </a:p>
          <a:p>
            <a:pPr>
              <a:lnSpc>
                <a:spcPts val="2679"/>
              </a:lnSpc>
            </a:pPr>
            <a:r>
              <a:rPr lang="en-US" sz="1914">
                <a:solidFill>
                  <a:srgbClr val="000000"/>
                </a:solidFill>
                <a:latin typeface="Muli Regular"/>
              </a:rPr>
              <a:t>WHERE ('умова/фільтрація, наприклад, city = 'Київ'; необов'язкове поле')</a:t>
            </a:r>
          </a:p>
          <a:p>
            <a:pPr>
              <a:lnSpc>
                <a:spcPts val="2679"/>
              </a:lnSpc>
            </a:pPr>
            <a:r>
              <a:rPr lang="en-US" sz="1914">
                <a:solidFill>
                  <a:srgbClr val="000000"/>
                </a:solidFill>
                <a:latin typeface="Muli Regular"/>
              </a:rPr>
              <a:t>GROUP BY ('стовпець, по якому здійсноється групування даних; необов'язкове поле')</a:t>
            </a:r>
          </a:p>
          <a:p>
            <a:pPr>
              <a:lnSpc>
                <a:spcPts val="2679"/>
              </a:lnSpc>
            </a:pPr>
            <a:r>
              <a:rPr lang="en-US" sz="1914">
                <a:solidFill>
                  <a:srgbClr val="000000"/>
                </a:solidFill>
                <a:latin typeface="Muli Regular"/>
              </a:rPr>
              <a:t>HAVING ('умова/фільтрація на рівні згрупованих даних; необов'язкове поле')</a:t>
            </a:r>
          </a:p>
          <a:p>
            <a:pPr>
              <a:lnSpc>
                <a:spcPts val="2679"/>
              </a:lnSpc>
            </a:pPr>
            <a:r>
              <a:rPr lang="en-US" sz="1914">
                <a:solidFill>
                  <a:srgbClr val="000000"/>
                </a:solidFill>
                <a:latin typeface="Muli Regular"/>
              </a:rPr>
              <a:t>ORDER BY ('стовпець, по якому здійснюється сортування; необов'язкове поле')</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1265495"/>
            <a:ext cx="13188136" cy="1865457"/>
          </a:xfrm>
          <a:prstGeom prst="rect">
            <a:avLst/>
          </a:prstGeom>
        </p:spPr>
        <p:txBody>
          <a:bodyPr anchor="t" rtlCol="false" tIns="0" lIns="0" bIns="0" rIns="0">
            <a:spAutoFit/>
          </a:bodyPr>
          <a:lstStyle/>
          <a:p>
            <a:pPr marL="0" indent="0" lvl="0">
              <a:lnSpc>
                <a:spcPts val="7125"/>
              </a:lnSpc>
            </a:pPr>
            <a:r>
              <a:rPr lang="en-US" sz="7500" spc="-225">
                <a:solidFill>
                  <a:srgbClr val="1C1C1E"/>
                </a:solidFill>
                <a:latin typeface="HK Grotesk Bold"/>
              </a:rPr>
              <a:t>Приклад запиту на основі бази "банківські послуги"</a:t>
            </a:r>
          </a:p>
        </p:txBody>
      </p:sp>
      <p:sp>
        <p:nvSpPr>
          <p:cNvPr name="TextBox 3" id="3"/>
          <p:cNvSpPr txBox="true"/>
          <p:nvPr/>
        </p:nvSpPr>
        <p:spPr>
          <a:xfrm rot="0">
            <a:off x="2549932" y="4927157"/>
            <a:ext cx="13188136" cy="1986623"/>
          </a:xfrm>
          <a:prstGeom prst="rect">
            <a:avLst/>
          </a:prstGeom>
        </p:spPr>
        <p:txBody>
          <a:bodyPr anchor="t" rtlCol="false" tIns="0" lIns="0" bIns="0" rIns="0">
            <a:spAutoFit/>
          </a:bodyPr>
          <a:lstStyle/>
          <a:p>
            <a:pPr algn="ctr" marL="0" indent="0" lvl="0">
              <a:lnSpc>
                <a:spcPts val="7600"/>
              </a:lnSpc>
            </a:pPr>
            <a:r>
              <a:rPr lang="en-US" sz="8000" spc="-240">
                <a:solidFill>
                  <a:srgbClr val="FFFFFF"/>
                </a:solidFill>
                <a:latin typeface="HK Grotesk Bold"/>
              </a:rPr>
              <a:t>тут вставити код і результати</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1105" y="777162"/>
            <a:ext cx="16123998" cy="1875392"/>
          </a:xfrm>
          <a:prstGeom prst="rect">
            <a:avLst/>
          </a:prstGeom>
        </p:spPr>
        <p:txBody>
          <a:bodyPr anchor="t" rtlCol="false" tIns="0" lIns="0" bIns="0" rIns="0">
            <a:spAutoFit/>
          </a:bodyPr>
          <a:lstStyle/>
          <a:p>
            <a:pPr>
              <a:lnSpc>
                <a:spcPts val="7200"/>
              </a:lnSpc>
            </a:pPr>
            <a:r>
              <a:rPr lang="en-US" sz="7200" spc="-215">
                <a:solidFill>
                  <a:srgbClr val="1C1C1E"/>
                </a:solidFill>
                <a:latin typeface="HK Grotesk Medium"/>
              </a:rPr>
              <a:t>Створення збережених процедур та функцій</a:t>
            </a:r>
          </a:p>
        </p:txBody>
      </p:sp>
      <p:sp>
        <p:nvSpPr>
          <p:cNvPr name="TextBox 3" id="3"/>
          <p:cNvSpPr txBox="true"/>
          <p:nvPr/>
        </p:nvSpPr>
        <p:spPr>
          <a:xfrm rot="0">
            <a:off x="680514" y="2673685"/>
            <a:ext cx="14929383" cy="1225550"/>
          </a:xfrm>
          <a:prstGeom prst="rect">
            <a:avLst/>
          </a:prstGeom>
        </p:spPr>
        <p:txBody>
          <a:bodyPr anchor="t" rtlCol="false" tIns="0" lIns="0" bIns="0" rIns="0">
            <a:spAutoFit/>
          </a:bodyPr>
          <a:lstStyle/>
          <a:p>
            <a:pPr>
              <a:lnSpc>
                <a:spcPts val="4900"/>
              </a:lnSpc>
            </a:pPr>
            <a:r>
              <a:rPr lang="en-US" sz="3500">
                <a:solidFill>
                  <a:srgbClr val="000000"/>
                </a:solidFill>
                <a:latin typeface="HK Grotesk Medium"/>
              </a:rPr>
              <a:t>Як</a:t>
            </a:r>
            <a:r>
              <a:rPr lang="en-US" sz="3500">
                <a:solidFill>
                  <a:srgbClr val="000000"/>
                </a:solidFill>
                <a:latin typeface="HK Grotesk Medium"/>
              </a:rPr>
              <a:t> збережені процедури, так і функції - це об'єкти бази даних, які містять набір операторів SQL для виконання завдання.</a:t>
            </a:r>
          </a:p>
        </p:txBody>
      </p:sp>
      <p:grpSp>
        <p:nvGrpSpPr>
          <p:cNvPr name="Group 4" id="4"/>
          <p:cNvGrpSpPr/>
          <p:nvPr/>
        </p:nvGrpSpPr>
        <p:grpSpPr>
          <a:xfrm rot="0">
            <a:off x="680514" y="4609827"/>
            <a:ext cx="13177030" cy="1778930"/>
            <a:chOff x="0" y="0"/>
            <a:chExt cx="17569374" cy="2371907"/>
          </a:xfrm>
        </p:grpSpPr>
        <p:sp>
          <p:nvSpPr>
            <p:cNvPr name="TextBox 5" id="5"/>
            <p:cNvSpPr txBox="true"/>
            <p:nvPr/>
          </p:nvSpPr>
          <p:spPr>
            <a:xfrm rot="0">
              <a:off x="2469918" y="-47625"/>
              <a:ext cx="15099456" cy="2419532"/>
            </a:xfrm>
            <a:prstGeom prst="rect">
              <a:avLst/>
            </a:prstGeom>
          </p:spPr>
          <p:txBody>
            <a:bodyPr anchor="t" rtlCol="false" tIns="0" lIns="0" bIns="0" rIns="0">
              <a:spAutoFit/>
            </a:bodyPr>
            <a:lstStyle/>
            <a:p>
              <a:pPr>
                <a:lnSpc>
                  <a:spcPts val="2940"/>
                </a:lnSpc>
              </a:pPr>
              <a:r>
                <a:rPr lang="en-US" sz="2100">
                  <a:solidFill>
                    <a:srgbClr val="1C1C1E"/>
                  </a:solidFill>
                  <a:latin typeface="HK Grotesk Light"/>
                </a:rPr>
                <a:t>Процедура представляє собою набір з одного або декількох операторів SQL. Перевага збережених процедур полягає в тому, що вони виконуються на стороні сервера і виконують набір дій, перш ніж повертати результати на сторону клієнта. Це дозволяє виконувати набір дій за мінімальний час, а також зменшує мережевий трафік. Отже, збережена процедура підвищує продуктивність для виконання операторів SQL.</a:t>
              </a:r>
            </a:p>
          </p:txBody>
        </p:sp>
        <p:sp>
          <p:nvSpPr>
            <p:cNvPr name="TextBox 6" id="6"/>
            <p:cNvSpPr txBox="true"/>
            <p:nvPr/>
          </p:nvSpPr>
          <p:spPr>
            <a:xfrm rot="0">
              <a:off x="0" y="0"/>
              <a:ext cx="2234571" cy="482600"/>
            </a:xfrm>
            <a:prstGeom prst="rect">
              <a:avLst/>
            </a:prstGeom>
          </p:spPr>
          <p:txBody>
            <a:bodyPr anchor="t" rtlCol="false" tIns="0" lIns="0" bIns="0" rIns="0">
              <a:spAutoFit/>
            </a:bodyPr>
            <a:lstStyle/>
            <a:p>
              <a:pPr>
                <a:lnSpc>
                  <a:spcPts val="2879"/>
                </a:lnSpc>
              </a:pPr>
              <a:r>
                <a:rPr lang="en-US" sz="2400">
                  <a:solidFill>
                    <a:srgbClr val="1C1C1E"/>
                  </a:solidFill>
                  <a:latin typeface="HK Grotesk Bold Bold"/>
                </a:rPr>
                <a:t>Процедури</a:t>
              </a:r>
            </a:p>
          </p:txBody>
        </p:sp>
      </p:grpSp>
      <p:grpSp>
        <p:nvGrpSpPr>
          <p:cNvPr name="Group 7" id="7"/>
          <p:cNvGrpSpPr/>
          <p:nvPr/>
        </p:nvGrpSpPr>
        <p:grpSpPr>
          <a:xfrm rot="0">
            <a:off x="680514" y="6893488"/>
            <a:ext cx="11877616" cy="1046022"/>
            <a:chOff x="0" y="0"/>
            <a:chExt cx="15836821" cy="1394696"/>
          </a:xfrm>
        </p:grpSpPr>
        <p:sp>
          <p:nvSpPr>
            <p:cNvPr name="TextBox 8" id="8"/>
            <p:cNvSpPr txBox="true"/>
            <p:nvPr/>
          </p:nvSpPr>
          <p:spPr>
            <a:xfrm rot="0">
              <a:off x="2469918" y="-47625"/>
              <a:ext cx="13366903" cy="1442321"/>
            </a:xfrm>
            <a:prstGeom prst="rect">
              <a:avLst/>
            </a:prstGeom>
          </p:spPr>
          <p:txBody>
            <a:bodyPr anchor="t" rtlCol="false" tIns="0" lIns="0" bIns="0" rIns="0">
              <a:spAutoFit/>
            </a:bodyPr>
            <a:lstStyle/>
            <a:p>
              <a:pPr>
                <a:lnSpc>
                  <a:spcPts val="2940"/>
                </a:lnSpc>
              </a:pPr>
              <a:r>
                <a:rPr lang="en-US" sz="2100">
                  <a:solidFill>
                    <a:srgbClr val="1C1C1E"/>
                  </a:solidFill>
                  <a:latin typeface="HK Grotesk Light"/>
                </a:rPr>
                <a:t>Функція - це об'єкт бази даних. В основному це набір операторів SQL, які приймають лише вхідні параметри, виконують дії та повертають результат. Функція може повернути лише одне значення або таблицю.</a:t>
              </a:r>
            </a:p>
          </p:txBody>
        </p:sp>
        <p:sp>
          <p:nvSpPr>
            <p:cNvPr name="TextBox 9" id="9"/>
            <p:cNvSpPr txBox="true"/>
            <p:nvPr/>
          </p:nvSpPr>
          <p:spPr>
            <a:xfrm rot="0">
              <a:off x="0" y="0"/>
              <a:ext cx="2234571" cy="482600"/>
            </a:xfrm>
            <a:prstGeom prst="rect">
              <a:avLst/>
            </a:prstGeom>
          </p:spPr>
          <p:txBody>
            <a:bodyPr anchor="t" rtlCol="false" tIns="0" lIns="0" bIns="0" rIns="0">
              <a:spAutoFit/>
            </a:bodyPr>
            <a:lstStyle/>
            <a:p>
              <a:pPr>
                <a:lnSpc>
                  <a:spcPts val="2879"/>
                </a:lnSpc>
              </a:pPr>
              <a:r>
                <a:rPr lang="en-US" sz="2400">
                  <a:solidFill>
                    <a:srgbClr val="1C1C1E"/>
                  </a:solidFill>
                  <a:latin typeface="HK Grotesk Bold Bold"/>
                </a:rPr>
                <a:t>Функції</a:t>
              </a:r>
            </a:p>
          </p:txBody>
        </p:sp>
      </p:grpSp>
      <p:pic>
        <p:nvPicPr>
          <p:cNvPr name="Picture 10" id="10"/>
          <p:cNvPicPr>
            <a:picLocks noChangeAspect="true"/>
          </p:cNvPicPr>
          <p:nvPr/>
        </p:nvPicPr>
        <p:blipFill>
          <a:blip r:embed="rId2"/>
          <a:srcRect l="0" t="0" r="0" b="0"/>
          <a:stretch>
            <a:fillRect/>
          </a:stretch>
        </p:blipFill>
        <p:spPr>
          <a:xfrm flipH="false" flipV="false" rot="-63965">
            <a:off x="13202125" y="5081325"/>
            <a:ext cx="4004374" cy="4044823"/>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265495"/>
            <a:ext cx="14936158" cy="1865457"/>
          </a:xfrm>
          <a:prstGeom prst="rect">
            <a:avLst/>
          </a:prstGeom>
        </p:spPr>
        <p:txBody>
          <a:bodyPr anchor="t" rtlCol="false" tIns="0" lIns="0" bIns="0" rIns="0">
            <a:spAutoFit/>
          </a:bodyPr>
          <a:lstStyle/>
          <a:p>
            <a:pPr marL="0" indent="0" lvl="0">
              <a:lnSpc>
                <a:spcPts val="7125"/>
              </a:lnSpc>
            </a:pPr>
            <a:r>
              <a:rPr lang="en-US" sz="7500" spc="-225">
                <a:solidFill>
                  <a:srgbClr val="000000"/>
                </a:solidFill>
                <a:latin typeface="HK Grotesk Bold"/>
              </a:rPr>
              <a:t>Приклад збереженої процедури на основі бази "банківські послуги"</a:t>
            </a:r>
          </a:p>
        </p:txBody>
      </p:sp>
      <p:sp>
        <p:nvSpPr>
          <p:cNvPr name="TextBox 3" id="3"/>
          <p:cNvSpPr txBox="true"/>
          <p:nvPr/>
        </p:nvSpPr>
        <p:spPr>
          <a:xfrm rot="0">
            <a:off x="2549932" y="4927157"/>
            <a:ext cx="13188136" cy="1986623"/>
          </a:xfrm>
          <a:prstGeom prst="rect">
            <a:avLst/>
          </a:prstGeom>
        </p:spPr>
        <p:txBody>
          <a:bodyPr anchor="t" rtlCol="false" tIns="0" lIns="0" bIns="0" rIns="0">
            <a:spAutoFit/>
          </a:bodyPr>
          <a:lstStyle/>
          <a:p>
            <a:pPr algn="ctr" marL="0" indent="0" lvl="0">
              <a:lnSpc>
                <a:spcPts val="7600"/>
              </a:lnSpc>
            </a:pPr>
            <a:r>
              <a:rPr lang="en-US" sz="8000" spc="-240">
                <a:solidFill>
                  <a:srgbClr val="000000"/>
                </a:solidFill>
                <a:latin typeface="HK Grotesk Bold"/>
              </a:rPr>
              <a:t>тут вставити код і результати</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1105" y="777162"/>
            <a:ext cx="9456765" cy="967224"/>
          </a:xfrm>
          <a:prstGeom prst="rect">
            <a:avLst/>
          </a:prstGeom>
        </p:spPr>
        <p:txBody>
          <a:bodyPr anchor="t" rtlCol="false" tIns="0" lIns="0" bIns="0" rIns="0">
            <a:spAutoFit/>
          </a:bodyPr>
          <a:lstStyle/>
          <a:p>
            <a:pPr>
              <a:lnSpc>
                <a:spcPts val="7200"/>
              </a:lnSpc>
            </a:pPr>
            <a:r>
              <a:rPr lang="en-US" sz="7200" spc="-215">
                <a:solidFill>
                  <a:srgbClr val="1C1C1E"/>
                </a:solidFill>
                <a:latin typeface="HK Grotesk Medium"/>
              </a:rPr>
              <a:t>Створення тригерів</a:t>
            </a:r>
          </a:p>
        </p:txBody>
      </p:sp>
      <p:sp>
        <p:nvSpPr>
          <p:cNvPr name="TextBox 3" id="3"/>
          <p:cNvSpPr txBox="true"/>
          <p:nvPr/>
        </p:nvSpPr>
        <p:spPr>
          <a:xfrm rot="0">
            <a:off x="571105" y="1946632"/>
            <a:ext cx="14929383" cy="1225550"/>
          </a:xfrm>
          <a:prstGeom prst="rect">
            <a:avLst/>
          </a:prstGeom>
        </p:spPr>
        <p:txBody>
          <a:bodyPr anchor="t" rtlCol="false" tIns="0" lIns="0" bIns="0" rIns="0">
            <a:spAutoFit/>
          </a:bodyPr>
          <a:lstStyle/>
          <a:p>
            <a:pPr>
              <a:lnSpc>
                <a:spcPts val="4900"/>
              </a:lnSpc>
            </a:pPr>
            <a:r>
              <a:rPr lang="en-US" sz="3500">
                <a:solidFill>
                  <a:srgbClr val="000000"/>
                </a:solidFill>
                <a:latin typeface="HK Grotesk Medium"/>
              </a:rPr>
              <a:t>За допомогою тригерів полегшується робота з базою за допомогою автоматизації дій</a:t>
            </a:r>
          </a:p>
        </p:txBody>
      </p:sp>
      <p:pic>
        <p:nvPicPr>
          <p:cNvPr name="Picture 4" id="4"/>
          <p:cNvPicPr>
            <a:picLocks noChangeAspect="true"/>
          </p:cNvPicPr>
          <p:nvPr/>
        </p:nvPicPr>
        <p:blipFill>
          <a:blip r:embed="rId2"/>
          <a:srcRect l="0" t="0" r="0" b="0"/>
          <a:stretch>
            <a:fillRect/>
          </a:stretch>
        </p:blipFill>
        <p:spPr>
          <a:xfrm flipH="false" flipV="false" rot="-5400000">
            <a:off x="12476280" y="4475280"/>
            <a:ext cx="5512169" cy="4244370"/>
          </a:xfrm>
          <a:prstGeom prst="rect">
            <a:avLst/>
          </a:prstGeom>
        </p:spPr>
      </p:pic>
      <p:sp>
        <p:nvSpPr>
          <p:cNvPr name="TextBox 5" id="5"/>
          <p:cNvSpPr txBox="true"/>
          <p:nvPr/>
        </p:nvSpPr>
        <p:spPr>
          <a:xfrm rot="0">
            <a:off x="571105" y="3520440"/>
            <a:ext cx="12920187" cy="1480185"/>
          </a:xfrm>
          <a:prstGeom prst="rect">
            <a:avLst/>
          </a:prstGeom>
        </p:spPr>
        <p:txBody>
          <a:bodyPr anchor="t" rtlCol="false" tIns="0" lIns="0" bIns="0" rIns="0">
            <a:spAutoFit/>
          </a:bodyPr>
          <a:lstStyle/>
          <a:p>
            <a:pPr>
              <a:lnSpc>
                <a:spcPts val="2940"/>
              </a:lnSpc>
            </a:pPr>
            <a:r>
              <a:rPr lang="en-US" sz="2100">
                <a:solidFill>
                  <a:srgbClr val="000000"/>
                </a:solidFill>
                <a:latin typeface="HK Grotesk Light"/>
              </a:rPr>
              <a:t>Часто виникає необхідність автоматично виконувати деякі типові процедури обробки даних при настанні деякої події в  базі даних. Для цього в СУБД Intebase передбачений механізм тригерів. По суті справи, тригери — це збережені процедури, які автоматично запускаються при настанні однієї з нижче перерахованих подій:</a:t>
            </a:r>
          </a:p>
        </p:txBody>
      </p:sp>
      <p:grpSp>
        <p:nvGrpSpPr>
          <p:cNvPr name="Group 6" id="6"/>
          <p:cNvGrpSpPr/>
          <p:nvPr/>
        </p:nvGrpSpPr>
        <p:grpSpPr>
          <a:xfrm rot="0">
            <a:off x="571105" y="5424838"/>
            <a:ext cx="4948895" cy="943428"/>
            <a:chOff x="0" y="0"/>
            <a:chExt cx="6598527" cy="1257904"/>
          </a:xfrm>
        </p:grpSpPr>
        <p:grpSp>
          <p:nvGrpSpPr>
            <p:cNvPr name="Group 7" id="7"/>
            <p:cNvGrpSpPr/>
            <p:nvPr/>
          </p:nvGrpSpPr>
          <p:grpSpPr>
            <a:xfrm rot="0">
              <a:off x="0" y="145571"/>
              <a:ext cx="176430" cy="176430"/>
              <a:chOff x="0" y="0"/>
              <a:chExt cx="6350000" cy="6350000"/>
            </a:xfrm>
          </p:grpSpPr>
          <p:sp>
            <p:nvSpPr>
              <p:cNvPr name="Freeform 8" id="8"/>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sp>
          <p:nvSpPr>
            <p:cNvPr name="TextBox 9" id="9"/>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Before insert</a:t>
              </a:r>
            </a:p>
          </p:txBody>
        </p:sp>
        <p:sp>
          <p:nvSpPr>
            <p:cNvPr name="TextBox 10" id="10"/>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перед добавлення нового запису до таблиці БД</a:t>
              </a:r>
            </a:p>
          </p:txBody>
        </p:sp>
      </p:grpSp>
      <p:grpSp>
        <p:nvGrpSpPr>
          <p:cNvPr name="Group 11" id="11"/>
          <p:cNvGrpSpPr/>
          <p:nvPr/>
        </p:nvGrpSpPr>
        <p:grpSpPr>
          <a:xfrm rot="0">
            <a:off x="5897386" y="5424838"/>
            <a:ext cx="4948895" cy="943428"/>
            <a:chOff x="0" y="0"/>
            <a:chExt cx="6598527" cy="1257904"/>
          </a:xfrm>
        </p:grpSpPr>
        <p:grpSp>
          <p:nvGrpSpPr>
            <p:cNvPr name="Group 12" id="12"/>
            <p:cNvGrpSpPr/>
            <p:nvPr/>
          </p:nvGrpSpPr>
          <p:grpSpPr>
            <a:xfrm rot="0">
              <a:off x="0" y="145571"/>
              <a:ext cx="176430" cy="176430"/>
              <a:chOff x="0" y="0"/>
              <a:chExt cx="6350000" cy="6350000"/>
            </a:xfrm>
          </p:grpSpPr>
          <p:sp>
            <p:nvSpPr>
              <p:cNvPr name="Freeform 13" id="13"/>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sp>
          <p:nvSpPr>
            <p:cNvPr name="TextBox 14" id="14"/>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After insert</a:t>
              </a:r>
            </a:p>
          </p:txBody>
        </p:sp>
        <p:sp>
          <p:nvSpPr>
            <p:cNvPr name="TextBox 15" id="15"/>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після добпвлення нового запису до таблиці БД</a:t>
              </a:r>
            </a:p>
          </p:txBody>
        </p:sp>
      </p:grpSp>
      <p:grpSp>
        <p:nvGrpSpPr>
          <p:cNvPr name="Group 16" id="16"/>
          <p:cNvGrpSpPr/>
          <p:nvPr/>
        </p:nvGrpSpPr>
        <p:grpSpPr>
          <a:xfrm rot="0">
            <a:off x="571105" y="6794992"/>
            <a:ext cx="4948895" cy="943428"/>
            <a:chOff x="0" y="0"/>
            <a:chExt cx="6598527" cy="1257904"/>
          </a:xfrm>
        </p:grpSpPr>
        <p:grpSp>
          <p:nvGrpSpPr>
            <p:cNvPr name="Group 17" id="17"/>
            <p:cNvGrpSpPr/>
            <p:nvPr/>
          </p:nvGrpSpPr>
          <p:grpSpPr>
            <a:xfrm rot="0">
              <a:off x="0" y="145571"/>
              <a:ext cx="176430" cy="176430"/>
              <a:chOff x="0" y="0"/>
              <a:chExt cx="6350000" cy="6350000"/>
            </a:xfrm>
          </p:grpSpPr>
          <p:sp>
            <p:nvSpPr>
              <p:cNvPr name="Freeform 18" id="18"/>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sp>
          <p:nvSpPr>
            <p:cNvPr name="TextBox 19" id="19"/>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Before update</a:t>
              </a:r>
            </a:p>
          </p:txBody>
        </p:sp>
        <p:sp>
          <p:nvSpPr>
            <p:cNvPr name="TextBox 20" id="20"/>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перед редагуванням запису в таблиці БД</a:t>
              </a:r>
            </a:p>
          </p:txBody>
        </p:sp>
      </p:grpSp>
      <p:grpSp>
        <p:nvGrpSpPr>
          <p:cNvPr name="Group 21" id="21"/>
          <p:cNvGrpSpPr/>
          <p:nvPr/>
        </p:nvGrpSpPr>
        <p:grpSpPr>
          <a:xfrm rot="0">
            <a:off x="5897386" y="6794992"/>
            <a:ext cx="4948895" cy="943428"/>
            <a:chOff x="0" y="0"/>
            <a:chExt cx="6598527" cy="1257904"/>
          </a:xfrm>
        </p:grpSpPr>
        <p:grpSp>
          <p:nvGrpSpPr>
            <p:cNvPr name="Group 22" id="22"/>
            <p:cNvGrpSpPr/>
            <p:nvPr/>
          </p:nvGrpSpPr>
          <p:grpSpPr>
            <a:xfrm rot="0">
              <a:off x="0" y="145571"/>
              <a:ext cx="176430" cy="176430"/>
              <a:chOff x="0" y="0"/>
              <a:chExt cx="6350000" cy="6350000"/>
            </a:xfrm>
          </p:grpSpPr>
          <p:sp>
            <p:nvSpPr>
              <p:cNvPr name="Freeform 23" id="23"/>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sp>
          <p:nvSpPr>
            <p:cNvPr name="TextBox 24" id="24"/>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After update</a:t>
              </a:r>
            </a:p>
          </p:txBody>
        </p:sp>
        <p:sp>
          <p:nvSpPr>
            <p:cNvPr name="TextBox 25" id="25"/>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після редагуванням запису в таблиці БД</a:t>
              </a:r>
            </a:p>
          </p:txBody>
        </p:sp>
      </p:grpSp>
      <p:grpSp>
        <p:nvGrpSpPr>
          <p:cNvPr name="Group 26" id="26"/>
          <p:cNvGrpSpPr/>
          <p:nvPr/>
        </p:nvGrpSpPr>
        <p:grpSpPr>
          <a:xfrm rot="0">
            <a:off x="571105" y="8090413"/>
            <a:ext cx="4948895" cy="943428"/>
            <a:chOff x="0" y="0"/>
            <a:chExt cx="6598527" cy="1257904"/>
          </a:xfrm>
        </p:grpSpPr>
        <p:grpSp>
          <p:nvGrpSpPr>
            <p:cNvPr name="Group 27" id="27"/>
            <p:cNvGrpSpPr/>
            <p:nvPr/>
          </p:nvGrpSpPr>
          <p:grpSpPr>
            <a:xfrm rot="0">
              <a:off x="0" y="145571"/>
              <a:ext cx="176430" cy="176430"/>
              <a:chOff x="0" y="0"/>
              <a:chExt cx="6350000" cy="6350000"/>
            </a:xfrm>
          </p:grpSpPr>
          <p:sp>
            <p:nvSpPr>
              <p:cNvPr name="Freeform 28" id="28"/>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sp>
          <p:nvSpPr>
            <p:cNvPr name="TextBox 29" id="29"/>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Before delete</a:t>
              </a:r>
            </a:p>
          </p:txBody>
        </p:sp>
        <p:sp>
          <p:nvSpPr>
            <p:cNvPr name="TextBox 30" id="30"/>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перед видаленням запису з таблиці БД</a:t>
              </a:r>
            </a:p>
          </p:txBody>
        </p:sp>
      </p:grpSp>
      <p:grpSp>
        <p:nvGrpSpPr>
          <p:cNvPr name="Group 31" id="31"/>
          <p:cNvGrpSpPr/>
          <p:nvPr/>
        </p:nvGrpSpPr>
        <p:grpSpPr>
          <a:xfrm rot="0">
            <a:off x="5897386" y="8090413"/>
            <a:ext cx="4948895" cy="943428"/>
            <a:chOff x="0" y="0"/>
            <a:chExt cx="6598527" cy="1257904"/>
          </a:xfrm>
        </p:grpSpPr>
        <p:grpSp>
          <p:nvGrpSpPr>
            <p:cNvPr name="Group 32" id="32"/>
            <p:cNvGrpSpPr/>
            <p:nvPr/>
          </p:nvGrpSpPr>
          <p:grpSpPr>
            <a:xfrm rot="0">
              <a:off x="0" y="145571"/>
              <a:ext cx="176430" cy="176430"/>
              <a:chOff x="0" y="0"/>
              <a:chExt cx="6350000" cy="6350000"/>
            </a:xfrm>
          </p:grpSpPr>
          <p:sp>
            <p:nvSpPr>
              <p:cNvPr name="Freeform 33" id="33"/>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sp>
          <p:nvSpPr>
            <p:cNvPr name="TextBox 34" id="34"/>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After delete</a:t>
              </a:r>
            </a:p>
          </p:txBody>
        </p:sp>
        <p:sp>
          <p:nvSpPr>
            <p:cNvPr name="TextBox 35" id="35"/>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після видаленням запису з таблиці БД</a:t>
              </a:r>
            </a:p>
          </p:txBody>
        </p:sp>
      </p:grpSp>
      <p:grpSp>
        <p:nvGrpSpPr>
          <p:cNvPr name="Group 36" id="36"/>
          <p:cNvGrpSpPr/>
          <p:nvPr/>
        </p:nvGrpSpPr>
        <p:grpSpPr>
          <a:xfrm rot="0">
            <a:off x="-113511" y="-488874"/>
            <a:ext cx="1142211" cy="1142211"/>
            <a:chOff x="0" y="0"/>
            <a:chExt cx="6350000" cy="6350000"/>
          </a:xfrm>
        </p:grpSpPr>
        <p:sp>
          <p:nvSpPr>
            <p:cNvPr name="Freeform 37" id="37"/>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1028700" y="1265495"/>
            <a:ext cx="13188136" cy="1865457"/>
          </a:xfrm>
          <a:prstGeom prst="rect">
            <a:avLst/>
          </a:prstGeom>
        </p:spPr>
        <p:txBody>
          <a:bodyPr anchor="t" rtlCol="false" tIns="0" lIns="0" bIns="0" rIns="0">
            <a:spAutoFit/>
          </a:bodyPr>
          <a:lstStyle/>
          <a:p>
            <a:pPr marL="0" indent="0" lvl="0">
              <a:lnSpc>
                <a:spcPts val="7125"/>
              </a:lnSpc>
            </a:pPr>
            <a:r>
              <a:rPr lang="en-US" sz="7500" spc="-225">
                <a:solidFill>
                  <a:srgbClr val="1C1C1E"/>
                </a:solidFill>
                <a:latin typeface="HK Grotesk Bold"/>
              </a:rPr>
              <a:t>Приклад тригера на основі бази "банківські послуги"</a:t>
            </a:r>
          </a:p>
        </p:txBody>
      </p:sp>
      <p:sp>
        <p:nvSpPr>
          <p:cNvPr name="TextBox 3" id="3"/>
          <p:cNvSpPr txBox="true"/>
          <p:nvPr/>
        </p:nvSpPr>
        <p:spPr>
          <a:xfrm rot="0">
            <a:off x="2549932" y="4927157"/>
            <a:ext cx="13188136" cy="1986623"/>
          </a:xfrm>
          <a:prstGeom prst="rect">
            <a:avLst/>
          </a:prstGeom>
        </p:spPr>
        <p:txBody>
          <a:bodyPr anchor="t" rtlCol="false" tIns="0" lIns="0" bIns="0" rIns="0">
            <a:spAutoFit/>
          </a:bodyPr>
          <a:lstStyle/>
          <a:p>
            <a:pPr algn="ctr" marL="0" indent="0" lvl="0">
              <a:lnSpc>
                <a:spcPts val="7600"/>
              </a:lnSpc>
            </a:pPr>
            <a:r>
              <a:rPr lang="en-US" sz="8000" spc="-240">
                <a:solidFill>
                  <a:srgbClr val="FFFFFF"/>
                </a:solidFill>
                <a:latin typeface="HK Grotesk Bold"/>
              </a:rPr>
              <a:t>тут вставити код і результати</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34376" y="653113"/>
            <a:ext cx="11619247" cy="1875392"/>
          </a:xfrm>
          <a:prstGeom prst="rect">
            <a:avLst/>
          </a:prstGeom>
        </p:spPr>
        <p:txBody>
          <a:bodyPr anchor="t" rtlCol="false" tIns="0" lIns="0" bIns="0" rIns="0">
            <a:spAutoFit/>
          </a:bodyPr>
          <a:lstStyle/>
          <a:p>
            <a:pPr algn="ctr" marL="0" indent="0" lvl="0">
              <a:lnSpc>
                <a:spcPts val="7200"/>
              </a:lnSpc>
              <a:spcBef>
                <a:spcPct val="0"/>
              </a:spcBef>
            </a:pPr>
            <a:r>
              <a:rPr lang="en-US" sz="7200" spc="-215">
                <a:solidFill>
                  <a:srgbClr val="1C1C1E"/>
                </a:solidFill>
                <a:latin typeface="HK Grotesk Medium"/>
              </a:rPr>
              <a:t>Проблеми, їх вирішення  та передбачення</a:t>
            </a:r>
          </a:p>
        </p:txBody>
      </p:sp>
      <p:grpSp>
        <p:nvGrpSpPr>
          <p:cNvPr name="Group 3" id="3"/>
          <p:cNvGrpSpPr/>
          <p:nvPr/>
        </p:nvGrpSpPr>
        <p:grpSpPr>
          <a:xfrm rot="0">
            <a:off x="5518045" y="2794598"/>
            <a:ext cx="11871925" cy="2618804"/>
            <a:chOff x="0" y="0"/>
            <a:chExt cx="15829234" cy="3491739"/>
          </a:xfrm>
        </p:grpSpPr>
        <p:sp>
          <p:nvSpPr>
            <p:cNvPr name="TextBox 4" id="4"/>
            <p:cNvSpPr txBox="true"/>
            <p:nvPr/>
          </p:nvSpPr>
          <p:spPr>
            <a:xfrm rot="0">
              <a:off x="0" y="1316048"/>
              <a:ext cx="15829234" cy="2175691"/>
            </a:xfrm>
            <a:prstGeom prst="rect">
              <a:avLst/>
            </a:prstGeom>
          </p:spPr>
          <p:txBody>
            <a:bodyPr anchor="t" rtlCol="false" tIns="0" lIns="0" bIns="0" rIns="0">
              <a:spAutoFit/>
            </a:bodyPr>
            <a:lstStyle/>
            <a:p>
              <a:pPr>
                <a:lnSpc>
                  <a:spcPts val="3359"/>
                </a:lnSpc>
              </a:pPr>
              <a:r>
                <a:rPr lang="en-US" sz="2400">
                  <a:solidFill>
                    <a:srgbClr val="1C1C1E"/>
                  </a:solidFill>
                  <a:latin typeface="HK Grotesk Light Bold"/>
                </a:rPr>
                <a:t>На початку розробки курсового проєкту реалізація певних його частин займала достатньо велику кількість часу, цю проблему було вирішено за допомогою правильної постановки пріорітетів проєкту, плануванням часу та детального опису подальшої розробки.</a:t>
              </a:r>
            </a:p>
          </p:txBody>
        </p:sp>
        <p:sp>
          <p:nvSpPr>
            <p:cNvPr name="TextBox 5" id="5"/>
            <p:cNvSpPr txBox="true"/>
            <p:nvPr/>
          </p:nvSpPr>
          <p:spPr>
            <a:xfrm rot="0">
              <a:off x="0" y="0"/>
              <a:ext cx="14711372" cy="482600"/>
            </a:xfrm>
            <a:prstGeom prst="rect">
              <a:avLst/>
            </a:prstGeom>
          </p:spPr>
          <p:txBody>
            <a:bodyPr anchor="t" rtlCol="false" tIns="0" lIns="0" bIns="0" rIns="0">
              <a:spAutoFit/>
            </a:bodyPr>
            <a:lstStyle/>
            <a:p>
              <a:pPr>
                <a:lnSpc>
                  <a:spcPts val="2879"/>
                </a:lnSpc>
              </a:pPr>
              <a:r>
                <a:rPr lang="en-US" sz="2400">
                  <a:solidFill>
                    <a:srgbClr val="1C1C1E"/>
                  </a:solidFill>
                  <a:latin typeface="HK Grotesk Bold Bold"/>
                </a:rPr>
                <a:t>Некоректний розподіл часу</a:t>
              </a:r>
            </a:p>
          </p:txBody>
        </p:sp>
      </p:grpSp>
      <p:grpSp>
        <p:nvGrpSpPr>
          <p:cNvPr name="Group 6" id="6"/>
          <p:cNvGrpSpPr/>
          <p:nvPr/>
        </p:nvGrpSpPr>
        <p:grpSpPr>
          <a:xfrm rot="0">
            <a:off x="1028700" y="2794598"/>
            <a:ext cx="4183055" cy="2204552"/>
            <a:chOff x="0" y="0"/>
            <a:chExt cx="5577407" cy="2939402"/>
          </a:xfrm>
        </p:grpSpPr>
        <p:sp>
          <p:nvSpPr>
            <p:cNvPr name="TextBox 7" id="7"/>
            <p:cNvSpPr txBox="true"/>
            <p:nvPr/>
          </p:nvSpPr>
          <p:spPr>
            <a:xfrm rot="0">
              <a:off x="0" y="1316048"/>
              <a:ext cx="5577407" cy="1623354"/>
            </a:xfrm>
            <a:prstGeom prst="rect">
              <a:avLst/>
            </a:prstGeom>
          </p:spPr>
          <p:txBody>
            <a:bodyPr anchor="t" rtlCol="false" tIns="0" lIns="0" bIns="0" rIns="0">
              <a:spAutoFit/>
            </a:bodyPr>
            <a:lstStyle/>
            <a:p>
              <a:pPr>
                <a:lnSpc>
                  <a:spcPts val="3359"/>
                </a:lnSpc>
              </a:pPr>
              <a:r>
                <a:rPr lang="en-US" sz="2400">
                  <a:solidFill>
                    <a:srgbClr val="1C1C1E"/>
                  </a:solidFill>
                  <a:latin typeface="HK Grotesk Light Bold"/>
                </a:rPr>
                <a:t>Проведено рефакторинг з метою оптимізації програмного коду.</a:t>
              </a:r>
            </a:p>
          </p:txBody>
        </p:sp>
        <p:sp>
          <p:nvSpPr>
            <p:cNvPr name="TextBox 8" id="8"/>
            <p:cNvSpPr txBox="true"/>
            <p:nvPr/>
          </p:nvSpPr>
          <p:spPr>
            <a:xfrm rot="0">
              <a:off x="0" y="0"/>
              <a:ext cx="5183530" cy="482600"/>
            </a:xfrm>
            <a:prstGeom prst="rect">
              <a:avLst/>
            </a:prstGeom>
          </p:spPr>
          <p:txBody>
            <a:bodyPr anchor="t" rtlCol="false" tIns="0" lIns="0" bIns="0" rIns="0">
              <a:spAutoFit/>
            </a:bodyPr>
            <a:lstStyle/>
            <a:p>
              <a:pPr>
                <a:lnSpc>
                  <a:spcPts val="2879"/>
                </a:lnSpc>
              </a:pPr>
              <a:r>
                <a:rPr lang="en-US" sz="2400">
                  <a:solidFill>
                    <a:srgbClr val="1C1C1E"/>
                  </a:solidFill>
                  <a:latin typeface="HK Grotesk Bold Bold"/>
                </a:rPr>
                <a:t>Дублювання коду</a:t>
              </a:r>
            </a:p>
          </p:txBody>
        </p:sp>
      </p:grpSp>
      <p:grpSp>
        <p:nvGrpSpPr>
          <p:cNvPr name="Group 9" id="9"/>
          <p:cNvGrpSpPr/>
          <p:nvPr/>
        </p:nvGrpSpPr>
        <p:grpSpPr>
          <a:xfrm rot="0">
            <a:off x="502081" y="5302502"/>
            <a:ext cx="5015963" cy="6107364"/>
            <a:chOff x="0" y="0"/>
            <a:chExt cx="6687951" cy="8143151"/>
          </a:xfrm>
        </p:grpSpPr>
        <p:pic>
          <p:nvPicPr>
            <p:cNvPr name="Picture 10" id="10"/>
            <p:cNvPicPr>
              <a:picLocks noChangeAspect="true"/>
            </p:cNvPicPr>
            <p:nvPr/>
          </p:nvPicPr>
          <p:blipFill>
            <a:blip r:embed="rId2"/>
            <a:srcRect l="0" t="0" r="0" b="0"/>
            <a:stretch>
              <a:fillRect/>
            </a:stretch>
          </p:blipFill>
          <p:spPr>
            <a:xfrm flipH="false" flipV="false" rot="0">
              <a:off x="4763584" y="1271993"/>
              <a:ext cx="1924367" cy="1789661"/>
            </a:xfrm>
            <a:prstGeom prst="rect">
              <a:avLst/>
            </a:prstGeom>
          </p:spPr>
        </p:pic>
        <p:grpSp>
          <p:nvGrpSpPr>
            <p:cNvPr name="Group 11" id="11"/>
            <p:cNvGrpSpPr/>
            <p:nvPr/>
          </p:nvGrpSpPr>
          <p:grpSpPr>
            <a:xfrm rot="0">
              <a:off x="0" y="2254034"/>
              <a:ext cx="1159490" cy="1159490"/>
              <a:chOff x="0" y="0"/>
              <a:chExt cx="6350000" cy="6350000"/>
            </a:xfrm>
          </p:grpSpPr>
          <p:sp>
            <p:nvSpPr>
              <p:cNvPr name="Freeform 12" id="12"/>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DE59"/>
              </a:solidFill>
            </p:spPr>
          </p:sp>
        </p:grpSp>
        <p:pic>
          <p:nvPicPr>
            <p:cNvPr name="Picture 13" id="13"/>
            <p:cNvPicPr>
              <a:picLocks noChangeAspect="true"/>
            </p:cNvPicPr>
            <p:nvPr/>
          </p:nvPicPr>
          <p:blipFill>
            <a:blip r:embed="rId3"/>
            <a:srcRect l="0" t="0" r="0" b="0"/>
            <a:stretch>
              <a:fillRect/>
            </a:stretch>
          </p:blipFill>
          <p:spPr>
            <a:xfrm flipH="false" flipV="false" rot="0">
              <a:off x="297426" y="0"/>
              <a:ext cx="5715012" cy="8143151"/>
            </a:xfrm>
            <a:prstGeom prst="rect">
              <a:avLst/>
            </a:prstGeom>
          </p:spPr>
        </p:pic>
      </p:grpSp>
      <p:grpSp>
        <p:nvGrpSpPr>
          <p:cNvPr name="Group 14" id="14"/>
          <p:cNvGrpSpPr/>
          <p:nvPr/>
        </p:nvGrpSpPr>
        <p:grpSpPr>
          <a:xfrm rot="0">
            <a:off x="7456676" y="6151633"/>
            <a:ext cx="9623910" cy="2618804"/>
            <a:chOff x="0" y="0"/>
            <a:chExt cx="12831879" cy="3491739"/>
          </a:xfrm>
        </p:grpSpPr>
        <p:sp>
          <p:nvSpPr>
            <p:cNvPr name="TextBox 15" id="15"/>
            <p:cNvSpPr txBox="true"/>
            <p:nvPr/>
          </p:nvSpPr>
          <p:spPr>
            <a:xfrm rot="0">
              <a:off x="0" y="1316048"/>
              <a:ext cx="12831879" cy="2175691"/>
            </a:xfrm>
            <a:prstGeom prst="rect">
              <a:avLst/>
            </a:prstGeom>
          </p:spPr>
          <p:txBody>
            <a:bodyPr anchor="t" rtlCol="false" tIns="0" lIns="0" bIns="0" rIns="0">
              <a:spAutoFit/>
            </a:bodyPr>
            <a:lstStyle/>
            <a:p>
              <a:pPr>
                <a:lnSpc>
                  <a:spcPts val="3359"/>
                </a:lnSpc>
              </a:pPr>
              <a:r>
                <a:rPr lang="en-US" sz="2400">
                  <a:solidFill>
                    <a:srgbClr val="1C1C1E"/>
                  </a:solidFill>
                  <a:latin typeface="HK Grotesk Light Bold"/>
                </a:rPr>
                <a:t>З метою уникнення повторів даних у таблицях боло використано процес ноомалізації, який було проведено за допомогою алгоритму декомпозиції. У результаті використання цього алгоритму відношення приведено до 3 нормальної форми.</a:t>
              </a:r>
            </a:p>
          </p:txBody>
        </p:sp>
        <p:sp>
          <p:nvSpPr>
            <p:cNvPr name="TextBox 16" id="16"/>
            <p:cNvSpPr txBox="true"/>
            <p:nvPr/>
          </p:nvSpPr>
          <p:spPr>
            <a:xfrm rot="0">
              <a:off x="0" y="0"/>
              <a:ext cx="11925691" cy="482600"/>
            </a:xfrm>
            <a:prstGeom prst="rect">
              <a:avLst/>
            </a:prstGeom>
          </p:spPr>
          <p:txBody>
            <a:bodyPr anchor="t" rtlCol="false" tIns="0" lIns="0" bIns="0" rIns="0">
              <a:spAutoFit/>
            </a:bodyPr>
            <a:lstStyle/>
            <a:p>
              <a:pPr>
                <a:lnSpc>
                  <a:spcPts val="2879"/>
                </a:lnSpc>
              </a:pPr>
              <a:r>
                <a:rPr lang="en-US" sz="2400">
                  <a:solidFill>
                    <a:srgbClr val="1C1C1E"/>
                  </a:solidFill>
                  <a:latin typeface="HK Grotesk Bold Bold"/>
                </a:rPr>
                <a:t>Дублювання даних</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DE59"/>
        </a:solidFill>
      </p:bgPr>
    </p:bg>
    <p:spTree>
      <p:nvGrpSpPr>
        <p:cNvPr id="1" name=""/>
        <p:cNvGrpSpPr/>
        <p:nvPr/>
      </p:nvGrpSpPr>
      <p:grpSpPr>
        <a:xfrm>
          <a:off x="0" y="0"/>
          <a:ext cx="0" cy="0"/>
          <a:chOff x="0" y="0"/>
          <a:chExt cx="0" cy="0"/>
        </a:xfrm>
      </p:grpSpPr>
      <p:sp>
        <p:nvSpPr>
          <p:cNvPr name="TextBox 2" id="2"/>
          <p:cNvSpPr txBox="true"/>
          <p:nvPr/>
        </p:nvSpPr>
        <p:spPr>
          <a:xfrm rot="0">
            <a:off x="8834199" y="4027916"/>
            <a:ext cx="6136375" cy="2469293"/>
          </a:xfrm>
          <a:prstGeom prst="rect">
            <a:avLst/>
          </a:prstGeom>
        </p:spPr>
        <p:txBody>
          <a:bodyPr anchor="t" rtlCol="false" tIns="0" lIns="0" bIns="0" rIns="0">
            <a:spAutoFit/>
          </a:bodyPr>
          <a:lstStyle/>
          <a:p>
            <a:pPr marL="0" indent="0" lvl="0">
              <a:lnSpc>
                <a:spcPts val="9499"/>
              </a:lnSpc>
              <a:spcBef>
                <a:spcPct val="0"/>
              </a:spcBef>
            </a:pPr>
            <a:r>
              <a:rPr lang="en-US" sz="9999" spc="-299">
                <a:solidFill>
                  <a:srgbClr val="1C1C1E"/>
                </a:solidFill>
                <a:latin typeface="HK Grotesk Bold"/>
              </a:rPr>
              <a:t>Дякую за увагу</a:t>
            </a:r>
          </a:p>
        </p:txBody>
      </p:sp>
      <p:pic>
        <p:nvPicPr>
          <p:cNvPr name="Picture 3" id="3"/>
          <p:cNvPicPr>
            <a:picLocks noChangeAspect="true"/>
          </p:cNvPicPr>
          <p:nvPr/>
        </p:nvPicPr>
        <p:blipFill>
          <a:blip r:embed="rId2"/>
          <a:srcRect l="0" t="0" r="0" b="0"/>
          <a:stretch>
            <a:fillRect/>
          </a:stretch>
        </p:blipFill>
        <p:spPr>
          <a:xfrm flipH="false" flipV="false" rot="0">
            <a:off x="5545665" y="2530114"/>
            <a:ext cx="1895690" cy="1762992"/>
          </a:xfrm>
          <a:prstGeom prst="rect">
            <a:avLst/>
          </a:prstGeom>
        </p:spPr>
      </p:pic>
      <p:grpSp>
        <p:nvGrpSpPr>
          <p:cNvPr name="Group 4" id="4"/>
          <p:cNvGrpSpPr/>
          <p:nvPr/>
        </p:nvGrpSpPr>
        <p:grpSpPr>
          <a:xfrm rot="0">
            <a:off x="3030956" y="7247003"/>
            <a:ext cx="1151915" cy="1151915"/>
            <a:chOff x="0" y="0"/>
            <a:chExt cx="6350000" cy="6350000"/>
          </a:xfrm>
        </p:grpSpPr>
        <p:sp>
          <p:nvSpPr>
            <p:cNvPr name="Freeform 5" id="5"/>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FFF"/>
            </a:solidFill>
          </p:spPr>
        </p:sp>
      </p:grpSp>
      <p:pic>
        <p:nvPicPr>
          <p:cNvPr name="Picture 6" id="6"/>
          <p:cNvPicPr>
            <a:picLocks noChangeAspect="true"/>
          </p:cNvPicPr>
          <p:nvPr/>
        </p:nvPicPr>
        <p:blipFill>
          <a:blip r:embed="rId3"/>
          <a:srcRect l="0" t="0" r="0" b="0"/>
          <a:stretch>
            <a:fillRect/>
          </a:stretch>
        </p:blipFill>
        <p:spPr>
          <a:xfrm flipH="false" flipV="false" rot="0">
            <a:off x="2060561" y="1004567"/>
            <a:ext cx="5285544" cy="11535910"/>
          </a:xfrm>
          <a:prstGeom prst="rect">
            <a:avLst/>
          </a:prstGeom>
        </p:spPr>
      </p:pic>
      <p:pic>
        <p:nvPicPr>
          <p:cNvPr name="Picture 7" id="7"/>
          <p:cNvPicPr>
            <a:picLocks noChangeAspect="true"/>
          </p:cNvPicPr>
          <p:nvPr/>
        </p:nvPicPr>
        <p:blipFill>
          <a:blip r:embed="rId4"/>
          <a:srcRect l="0" t="0" r="0" b="0"/>
          <a:stretch>
            <a:fillRect/>
          </a:stretch>
        </p:blipFill>
        <p:spPr>
          <a:xfrm flipH="false" flipV="false" rot="0">
            <a:off x="12001412" y="3932834"/>
            <a:ext cx="4512800" cy="2421331"/>
          </a:xfrm>
          <a:prstGeom prst="rect">
            <a:avLst/>
          </a:prstGeom>
        </p:spPr>
      </p:pic>
      <p:pic>
        <p:nvPicPr>
          <p:cNvPr name="Picture 8" id="8"/>
          <p:cNvPicPr>
            <a:picLocks noChangeAspect="true"/>
          </p:cNvPicPr>
          <p:nvPr/>
        </p:nvPicPr>
        <p:blipFill>
          <a:blip r:embed="rId4"/>
          <a:srcRect l="0" t="0" r="0" b="0"/>
          <a:stretch>
            <a:fillRect/>
          </a:stretch>
        </p:blipFill>
        <p:spPr>
          <a:xfrm flipH="false" flipV="false" rot="0">
            <a:off x="12001412" y="3932834"/>
            <a:ext cx="4512800" cy="24213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DAD81-om4Co</dc:identifier>
  <dcterms:modified xsi:type="dcterms:W3CDTF">2011-08-01T06:04:30Z</dcterms:modified>
  <cp:revision>1</cp:revision>
  <dc:title>Blue and White Illustrated English Tutor Marketing Presentation</dc:title>
</cp:coreProperties>
</file>